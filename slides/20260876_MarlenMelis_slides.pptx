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Hello, I'm Marlen. My project is Rescue Router. I adapted Chameleon to map flooded roads and buildings in drone photos from only 50 labelled photos — that's Track A — and built a system that plans rescue routes by truck, boat and on foot on top of that map — that's Track B. The QR code opens the live demo, if you want to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August 2022: Seoul had 141.5 millimetres of rain in one hour, the most since 1907. July 2023: the Osong underpass flooded in minutes and 14 people died. In the first hours, coordinators need one answer per house: can a truck get there, does it need a boat, or is it cut off? Drones deliver photos within the hour, but labelling one photo takes about an hour, and a standard model wants 1,445 labelled photos. So my question: how far do 50 labelled photos get us, and can that map route rescue teams? The strip at the bottom is the whole system: photo, flood map, route. The answers on the right: .507 mIoU on all 448 test photos — PSPNet, with 29 times more labels, gets .848 — cut-off houses found with F1 .752, and all 208 houses marked “confident: truck” were truly reachable.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I formulated it. Every pixel gets one of five channels: clear road, flooded road, flooded building, dry building and water; trees, grass and cars are “other”. Chameleon predicts one probability map per channel, decoded with a threshold per channel tuned on 30 validation photos, on six overlapping 384-pixel tiles. I chose the channels for the router, which works on 4-by-4-pixel cells: truck on clear road, boat on water, the last stretch on foot. I rejected all ten FloodNet classes, which spend the few labels on trees, a single “passable” channel, which can't plan a boat, and a cost map, which has no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Data: FloodNet, from Hurricane Harvey — I adapt on 1 to 50 labelled photos, tune on 30 and test on all 448. RescueNet, from Hurricane Michael, is a second disaster. Every label is the datasets' own. Weights: the course's Chameleon checkpoint; fine-tuning touches only the biases, the temperature and one LayerNorm, five megabytes per model, plus SAM to refine building outlines. 28 runs, about 29 GPU-hours on free Kaggle T4s, and the notebook reruns everything in about 28 minutes and reproduces the stored predictions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Track A. The curve is mIoU against the number of labelled photos, with 95 percent intervals. One to five photos: plus .14, a real gain. Five to ten: nothing measurable. Twenty to fifty: plus .10 again. The final 50-shot model gets .507 on the full test, up from .472 after 36 tested ideas. On the right, a test photo: the prediction next to the human label. The gap to PSPNet is mostly flooded roads, .31 against .82: brown water and a dry road look alike from above. And a new hurricane needs its own labels: zero RescueNet labels give .32, twenty give .63.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[Click the video: 90 seconds, no sound.] Track B: this is the real system. The drone photo becomes the five-class map, and every house gets a status badge. I click a house: the truck drives while the roads are dry, a boat takes over, the last stretch is on foot, with a time estimate. Now the human labels: here the same house is reachable on a dry road — my model was too cautious; the swipe compares both maps, and the dashed line is the other map's route. The team can choose where it enters, and the risk-aware truck avoids roads that are probably wet. A second hurricane: truck, boat across the canal, then on foot. Confidence tiers: houses marked “confident: truck” were all truly reachable, 208 of 208. The honest failure: shallow water read as land — but those houses are flagged “check first”, and the water-probability layer shows why. You can browse all 200 test photos of both hurricanes. And the Gradio app takes an upload — shown in test mode; live on a T4 it takes 17 seconds. Overall, cut-off houses are found with F1 .752.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 learned. The dangerous error is shallow water read as dry land: the map invites a truck into water. Left the prediction, right the label: the model saw this flooded street as land. But all six houses it wrongly calls truck-reachable are flagged “check first”, because every map is routed twice, once cautiously. A rule from this analysis — no off-road driving where water is likely — raised cut-off F1 from .74 to .84. So saying how sure we are matters more than a few IoU points. Of 36 ideas, four survived: a shorter schedule, weight averaging, an edge-aware decode and SAM. Limits: US hurricanes, not Korean city floods; single photos without GPS; and the labelled map is my router on human labels, not field truth.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Relationship Id="rId6" Type="http://schemas.microsoft.com/office/2007/relationships/media" Target="../media/media1.mp4"/><Relationship Id="rId7" Type="http://schemas.openxmlformats.org/officeDocument/2006/relationships/video" Target="../media/media1.mp4"/><Relationship Id="rId8" Type="http://schemas.openxmlformats.org/officeDocument/2006/relationships/image" Target="../media/image7.jpg"/><Relationship Id="rId9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rone photo of a flooded street after Hurricane Harvey: houses surrounded by brown water">    </p:cNvPr>
          <p:cNvPicPr>
            <a:picLocks noChangeAspect="1"/>
          </p:cNvPicPr>
          <p:nvPr/>
        </p:nvPicPr>
        <p:blipFill>
          <a:blip r:embed="rId1"/>
          <a:srcRect l="18056" r="18056" t="0" b="0"/>
          <a:stretch/>
        </p:blipFill>
        <p:spPr>
          <a:xfrm>
            <a:off x="6350000" y="0"/>
            <a:ext cx="584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50000" y="0"/>
            <a:ext cx="1524000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0F1B2D">
                  <a:alpha val="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812800" y="1797100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00" kern="0" dirty="0">
                <a:solidFill>
                  <a:srgbClr val="5CC8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KAIST AIC200 · MINI-PROJECT</a:t>
            </a:r>
            <a:endParaRPr lang="en-US" sz="16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800" y="2284760"/>
            <a:ext cx="5537200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6F4EF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Rescue Router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812800" y="3234680"/>
            <a:ext cx="536321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DCE4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Few-shot flood mapping and rescue routing with Chameleon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12800" y="4136380"/>
            <a:ext cx="1977479" cy="436860"/>
          </a:xfrm>
          <a:prstGeom prst="roundRect">
            <a:avLst>
              <a:gd name="adj" fmla="val 50000"/>
            </a:avLst>
          </a:prstGeom>
          <a:solidFill>
            <a:srgbClr val="5CC8E8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A + Track B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2800" y="4776440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B8C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Marlen Melis · 20260876</a:t>
            </a:r>
            <a:endParaRPr lang="en-US" sz="1600" dirty="0"/>
          </a:p>
        </p:txBody>
      </p:sp>
      <p:sp>
        <p:nvSpPr>
          <p:cNvPr id="9" name="Rounded Rectangle 8"/>
          <p:cNvSpPr/>
          <p:nvPr/>
        </p:nvSpPr>
        <p:spPr>
          <a:xfrm>
            <a:off x="813816" y="5358384"/>
            <a:ext cx="1078992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539496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11680" y="5541264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BM Plex Sans"/>
              </a:rPr>
              <a:t>Try it live on your phone
</a:t>
            </a:r>
            <a:r>
              <a:rPr sz="1200" b="0">
                <a:solidFill>
                  <a:srgbClr val="7DD3FC"/>
                </a:solidFill>
                <a:latin typeface="IBM Plex Sans"/>
              </a:rPr>
              <a:t>marlenmm.github.io/rescue-router-demo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Which houses can a truck still reach?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30"/>
            <a:ext cx="583412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Seoul, Aug 2022:</a:t>
            </a: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141.5 mm of rain in one hour, the most since 1907. Streets in Gangnam became rivers.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12800" y="2260550"/>
            <a:ext cx="583412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Osong, Jul 2023:</a:t>
            </a: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 underpass flooded in minutes; 17 vehicles trapped, 14 people died.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3007271"/>
            <a:ext cx="5834126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Drone photos arrive within the hour. Turning them into a map is the slow part: </a:t>
            </a:r>
            <a:r>
              <a:rPr lang="en-US" sz="16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about one hour of labelling per photo</a:t>
            </a: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a standard model wants 1,445 labelled photos.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038451"/>
            <a:ext cx="583412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6F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My question: how far do 50 labelled photos get us, and can the map route rescue teams?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37375" y="1517005"/>
            <a:ext cx="4438650" cy="1278830"/>
          </a:xfrm>
          <a:prstGeom prst="roundRect">
            <a:avLst>
              <a:gd name="adj" fmla="val 7696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43750" y="1659880"/>
            <a:ext cx="414667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6FB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.507 mIoU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43750" y="2155180"/>
            <a:ext cx="4146677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flood map on all 448 FloodNet test photos, from 50 labelled photos (PSPNet with 1,445: .848)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37375" y="2954586"/>
            <a:ext cx="4438650" cy="1029940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143750" y="3097461"/>
            <a:ext cx="414667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6FB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.752 F1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143750" y="3592761"/>
            <a:ext cx="414667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finding the houses cut off by road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37375" y="4143276"/>
            <a:ext cx="4438650" cy="1278830"/>
          </a:xfrm>
          <a:prstGeom prst="roundRect">
            <a:avLst>
              <a:gd name="adj" fmla="val 7696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43750" y="4286151"/>
            <a:ext cx="4146677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85A1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100 %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143750" y="4781451"/>
            <a:ext cx="4146677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 houses marked “confident: truck” were truly reachable by truck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/ 6</a:t>
            </a:r>
            <a:endParaRPr lang="en-US" sz="1200" dirty="0"/>
          </a:p>
        </p:txBody>
      </p:sp>
      <p:pic>
        <p:nvPicPr>
          <p:cNvPr id="18" name="Picture 17" descr="strip_7577_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4736592"/>
            <a:ext cx="1764792" cy="13258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7824" y="4800600"/>
            <a:ext cx="1007668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drone photo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06039" y="5289803"/>
            <a:ext cx="219456" cy="219456"/>
          </a:xfrm>
          <a:prstGeom prst="rightArrow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trip_7577_m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2928" y="4736592"/>
            <a:ext cx="1764792" cy="132588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16936" y="4800600"/>
            <a:ext cx="1757476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flood map (50 labels)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645152" y="5289803"/>
            <a:ext cx="219456" cy="219456"/>
          </a:xfrm>
          <a:prstGeom prst="rightArrow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trip_7577_rou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4736592"/>
            <a:ext cx="1764792" cy="132588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956048" y="4800600"/>
            <a:ext cx="1832457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truck → boat → on foot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One photo in, five dense channels out</a:t>
            </a:r>
            <a:endParaRPr lang="en-US" sz="3200" dirty="0"/>
          </a:p>
        </p:txBody>
      </p:sp>
      <p:pic>
        <p:nvPicPr>
          <p:cNvPr id="3" name="Image 0" descr="Drone photo, FloodNet test photo 7301: a flooded residential stree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564630"/>
            <a:ext cx="2794000" cy="2095500"/>
          </a:xfrm>
          <a:prstGeom prst="roundRect">
            <a:avLst>
              <a:gd name="adj" fmla="val 3636"/>
            </a:avLst>
          </a:prstGeom>
        </p:spPr>
      </p:pic>
      <p:sp>
        <p:nvSpPr>
          <p:cNvPr id="4" name="Text 1"/>
          <p:cNvSpPr/>
          <p:nvPr/>
        </p:nvSpPr>
        <p:spPr>
          <a:xfrm>
            <a:off x="812800" y="3736330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drone photo (768×576)</a:t>
            </a:r>
            <a:endParaRPr lang="en-US" sz="1200" dirty="0"/>
          </a:p>
        </p:txBody>
      </p:sp>
      <p:pic>
        <p:nvPicPr>
          <p:cNvPr id="5" name="Image 1" descr="The same photo with its five-class label overlaid: blue flooded road, red flooded buildings, amber dry buildings, navy wat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911600" y="1564630"/>
            <a:ext cx="2794000" cy="2095500"/>
          </a:xfrm>
          <a:prstGeom prst="roundRect">
            <a:avLst>
              <a:gd name="adj" fmla="val 3636"/>
            </a:avLst>
          </a:prstGeom>
        </p:spPr>
      </p:pic>
      <p:sp>
        <p:nvSpPr>
          <p:cNvPr id="6" name="Text 2"/>
          <p:cNvSpPr/>
          <p:nvPr/>
        </p:nvSpPr>
        <p:spPr>
          <a:xfrm>
            <a:off x="3911600" y="3736330"/>
            <a:ext cx="28778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label: 5 channels, the rest is “other”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23100" y="1577330"/>
          <a:ext cx="4178300" cy="2155924"/>
        </p:xfrm>
        <a:graphic>
          <a:graphicData uri="http://schemas.openxmlformats.org/drawingml/2006/table">
            <a:tbl>
              <a:tblPr/>
              <a:tblGrid>
                <a:gridCol w="417830"/>
                <a:gridCol w="2005584"/>
                <a:gridCol w="1754886"/>
              </a:tblGrid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2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2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for the router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2DD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road clear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truck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road flooded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boat only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building flooded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target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building dry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target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water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F2A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boat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3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812800" y="4254450"/>
            <a:ext cx="341848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Output: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one sigmoid map per channel, decoded with a threshold per channel tuned on 30 validation photos. 384-px tiles, 6 per photo, blended.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4436517" y="4254450"/>
            <a:ext cx="341853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a router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on 4×4-px cells: truck on clear road, boat on water, the last stretch on foot. Its labels: cut off by road or not.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8060283" y="4254450"/>
            <a:ext cx="341848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Rejected: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all 10 classes (wastes 50 shots), one “passable” channel (no boat leg), a cost map (no labels), trees as obstacles.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Data, weights and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3380284" cy="349890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22350" y="1723380"/>
            <a:ext cx="305656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F6FB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Data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2350" y="2185640"/>
            <a:ext cx="305656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FloodNet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(Hurricane Harvey, 2017): 1, 5, 10, 20 or 50 labelled photos to adapt; 30 to tune; 448 to test.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2350" y="3059311"/>
            <a:ext cx="305656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RescueNet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(Hurricane Michael, 2018): a second disaster, 20 or 50 photos.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2350" y="3932982"/>
            <a:ext cx="305656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 labelled nothing: all labels are the datasets’.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517005"/>
            <a:ext cx="3380333" cy="349890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12184" y="1723380"/>
            <a:ext cx="305661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F6FB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Weights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12184" y="2185640"/>
            <a:ext cx="305661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course’s </a:t>
            </a:r>
            <a:r>
              <a:rPr lang="en-US" sz="14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Chameleon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meta-trained checkpoint (Kim et al., ECCV 2024), with its BEiT-v2-Large image encoder.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2184" y="3308201"/>
            <a:ext cx="305661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Fine-tuned: biases, temperature, one LayerNorm (5 MB per model). Plus SAM to redraw building outlines.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517005"/>
            <a:ext cx="3380333" cy="349890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3E1D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02067" y="1723380"/>
            <a:ext cx="305661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F6FB2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Training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02067" y="2185640"/>
            <a:ext cx="305661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384-px crops, batch 2, Adam, lr 10⁻³ with cosine decay, fp16; 1,000–2,000 steps; best step on the 30 tuning photos.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02067" y="3308201"/>
            <a:ext cx="3056611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runs on free Kaggle T4 GPUs, about 29 GPU-hours.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5273080"/>
            <a:ext cx="1088339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notebook reruns everything on a fresh T4 in about 28 minutes; its live 50-shot predictions match the stored ones </a:t>
            </a:r>
            <a:r>
              <a:rPr lang="en-US" sz="16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 Kaggle</a:t>
            </a:r>
            <a:r>
              <a:rPr lang="en-US" sz="1600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on 99.99 % of pixels on Colab.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Track A: 50 labels get about halfway</a:t>
            </a:r>
            <a:endParaRPr lang="en-US" sz="3200" dirty="0"/>
          </a:p>
        </p:txBody>
      </p:sp>
      <p:pic>
        <p:nvPicPr>
          <p:cNvPr id="3" name="Image 0" descr="Learning curve: mIoU on 100 test photos rises from 0.26 with 1 labelled photo to 0.52 with 50 (final model, tuned decode), with 95 percent intervals; full test 0.507 (first model 0.472); PSPNet with 1,445 labels at 0.848">    </p:cNvPr>
          <p:cNvPicPr>
            <a:picLocks noChangeAspect="1"/>
          </p:cNvPicPr>
          <p:nvPr/>
        </p:nvPicPr>
        <p:blipFill>
          <a:blip r:embed="rId1"/>
          <a:srcRect l="0" r="0" t="-32" b="-32"/>
          <a:stretch/>
        </p:blipFill>
        <p:spPr>
          <a:xfrm>
            <a:off x="812800" y="1513830"/>
            <a:ext cx="6096000" cy="4025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64400" y="1513830"/>
            <a:ext cx="4238244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→ 5 photos: +.14</a:t>
            </a: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 real gain (95 % interval above 0).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264400" y="2205980"/>
            <a:ext cx="4238244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→ 10: no measurable gain;</a:t>
            </a: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20 → 50: +.10 again.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264400" y="2898130"/>
            <a:ext cx="4238244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B85A1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Flooded roads are the gap: IoU .31 vs .82 for PSPNet. Water and dry roads look alike from above.</a:t>
            </a: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264400" y="3847455"/>
            <a:ext cx="4238244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1F2A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new hurricane needs its own labels:</a:t>
            </a: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FloodNet model on RescueNet with 0 labels reaches .32; with 20 RescueNet labels, .63.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6</a:t>
            </a:r>
            <a:endParaRPr lang="en-US" sz="1200" dirty="0"/>
          </a:p>
        </p:txBody>
      </p:sp>
      <p:pic>
        <p:nvPicPr>
          <p:cNvPr id="10" name="Picture 9" descr="pair_7320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4700016"/>
            <a:ext cx="1828800" cy="1371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24344" y="4764024"/>
            <a:ext cx="1757476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prediction, 50 labels</a:t>
            </a:r>
          </a:p>
        </p:txBody>
      </p:sp>
      <p:pic>
        <p:nvPicPr>
          <p:cNvPr id="12" name="Picture 11" descr="pair_7320_g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4700016"/>
            <a:ext cx="1828800" cy="1371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299448" y="4764024"/>
            <a:ext cx="1007668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human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0336" y="608990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A5568"/>
                </a:solidFill>
                <a:latin typeface="IBM Plex Sans"/>
              </a:rPr>
              <a:t>test photo 7320 · mean IoU .84 on this photo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F2A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Track B: rescue routes on the predicted map</a:t>
            </a:r>
            <a:endParaRPr lang="en-US" sz="3200" dirty="0"/>
          </a:p>
        </p:txBody>
      </p:sp>
      <p:sp>
        <p:nvSpPr>
          <p:cNvPr id="15" name="Text 10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6</a:t>
            </a:r>
            <a:endParaRPr lang="en-US" sz="1200" dirty="0"/>
          </a:p>
        </p:txBody>
      </p:sp>
      <p:pic>
        <p:nvPicPr>
          <p:cNvPr id="17" name="rescue_router_demo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13816" y="1490472"/>
            <a:ext cx="6537960" cy="36776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3816" y="5241226"/>
            <a:ext cx="6537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IBM Plex Sans"/>
              </a:rPr>
              <a:t>The real system, 90 s: </a:t>
            </a:r>
            <a:r>
              <a:rPr sz="1100" b="0">
                <a:solidFill>
                  <a:srgbClr val="4A5568"/>
                </a:solidFill>
                <a:latin typeface="IBM Plex Sans"/>
              </a:rPr>
              <a:t>web map of all 200 test photos with live routing, then the Gradio app (upload shown in CPU test mode)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490472"/>
            <a:ext cx="3794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09343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B2"/>
                </a:solidFill>
                <a:latin typeface="Rubik"/>
              </a:rPr>
              <a:t>.752 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093976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IBM Plex Sans"/>
              </a:rPr>
              <a:t>cut-off houses found on 1,232 test houses (RescueNet .818)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2624328"/>
            <a:ext cx="3794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274320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C2410C"/>
                </a:solidFill>
                <a:latin typeface="Rubik"/>
              </a:rPr>
              <a:t>208 / 208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22783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IBM Plex Sans"/>
              </a:rPr>
              <a:t>“confident: truck” houses truly reachable; “check first”: 79 %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758184"/>
            <a:ext cx="379476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3877056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B2"/>
                </a:solidFill>
                <a:latin typeface="Rubik"/>
              </a:rPr>
              <a:t>17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3616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A5568"/>
                </a:solidFill>
                <a:latin typeface="IBM Plex Sans"/>
              </a:rPr>
              <a:t>photo upload → flood map + routes, live on a free T4 GPU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892040"/>
            <a:ext cx="37947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9248" y="4965192"/>
            <a:ext cx="1042415" cy="104241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869680" y="50749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IBM Plex Sans"/>
              </a:rPr>
              <a:t>Try it now
</a:t>
            </a:r>
            <a:r>
              <a:rPr sz="1200" b="0">
                <a:solidFill>
                  <a:srgbClr val="1F6FB2"/>
                </a:solidFill>
                <a:latin typeface="IBM Plex Sans"/>
              </a:rPr>
              <a:t>marlenmm.github.io/
rescue-router-demo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F6F4EF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What I tried and what I learned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812800" y="3136392"/>
            <a:ext cx="40599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8C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Honest failure: shallow water read as land. All 6 wrongly “truck” houses are flagged “check first”.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283200" y="1539230"/>
            <a:ext cx="6278880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5CC8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dangerous error</a:t>
            </a:r>
            <a:r>
              <a:rPr lang="en-US" sz="1500" dirty="0">
                <a:solidFill>
                  <a:srgbClr val="DCE4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is shallow water read as dry land. A rule from that analysis (no off-road driving where water is likely) raised cut-off F1 from .74 to .84.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283200" y="2501255"/>
            <a:ext cx="6278880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5CC8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Saying how sure we are</a:t>
            </a:r>
            <a:r>
              <a:rPr lang="en-US" sz="1500" dirty="0">
                <a:solidFill>
                  <a:srgbClr val="DCE4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helps rescuers more than a few IoU points.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283200" y="2948930"/>
            <a:ext cx="627888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5CC8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Tried 36 ideas:</a:t>
            </a:r>
            <a:r>
              <a:rPr lang="en-US" sz="1500" dirty="0">
                <a:solidFill>
                  <a:srgbClr val="DCE4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kept a shorter schedule, weight averaging, an edge-aware decode and SAM (.472 → .507); the rest lost.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283200" y="3653780"/>
            <a:ext cx="627888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5CC8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Limits:</a:t>
            </a:r>
            <a:r>
              <a:rPr lang="en-US" sz="1500" dirty="0">
                <a:solidFill>
                  <a:srgbClr val="DCE4E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US hurricanes, not Korean city floods; single photos without GPS; the “labelled map” is my router on human labels, not field truth.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2800" y="6238280"/>
            <a:ext cx="34083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Rescue Router · Marlen Melis · 20260876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003379" y="6238280"/>
            <a:ext cx="3758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pic>
        <p:nvPicPr>
          <p:cNvPr id="11" name="Picture 10" descr="fail_7241_pr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1536192"/>
            <a:ext cx="2011680" cy="15087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77824" y="1600200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prediction</a:t>
            </a:r>
          </a:p>
        </p:txBody>
      </p:sp>
      <p:pic>
        <p:nvPicPr>
          <p:cNvPr id="13" name="Picture 12" descr="fail_7241_g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072" y="1536192"/>
            <a:ext cx="2011680" cy="15087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926079" y="1600200"/>
            <a:ext cx="1007668" cy="23774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BM Plex Sans"/>
              </a:rPr>
              <a:t>human label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cue Router">
  <a:themeElements>
    <a:clrScheme name="Rescue Router">
      <a:dk1>
        <a:srgbClr val="4A5568"/>
      </a:dk1>
      <a:lt1>
        <a:srgbClr val="F6F4EF"/>
      </a:lt1>
      <a:dk2>
        <a:srgbClr val="757D8A"/>
      </a:dk2>
      <a:lt2>
        <a:srgbClr val="E5E4E2"/>
      </a:lt2>
      <a:accent1>
        <a:srgbClr val="1F6FB2"/>
      </a:accent1>
      <a:accent2>
        <a:srgbClr val="5CC8E8"/>
      </a:accent2>
      <a:accent3>
        <a:srgbClr val="8FA3B8"/>
      </a:accent3>
      <a:accent4>
        <a:srgbClr val="B85A12"/>
      </a:accent4>
      <a:accent5>
        <a:srgbClr val="6A7179"/>
      </a:accent5>
      <a:accent6>
        <a:srgbClr val="1F2A3A"/>
      </a:accent6>
      <a:hlink>
        <a:srgbClr val="0563C1"/>
      </a:hlink>
      <a:folHlink>
        <a:srgbClr val="954F72"/>
      </a:folHlink>
    </a:clrScheme>
    <a:fontScheme name="Rescue Router">
      <a:majorFont>
        <a:latin typeface="Rubi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Rescue Router</dc:title>
  <dc:subject/>
  <dc:creator/>
  <cp:lastModifiedBy/>
  <cp:revision>1</cp:revision>
  <dcterms:created xsi:type="dcterms:W3CDTF">2026-10-07T07:06:02Z</dcterms:created>
  <dcterms:modified xsi:type="dcterms:W3CDTF">2026-10-07T07:06:02Z</dcterms:modified>
</cp:coreProperties>
</file>