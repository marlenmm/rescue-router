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I'm Marlen. My project is Rescue Router: I adapted Chameleon to map flooded roads and buildings in drone photos from only a few labelled photos — that's Track A — and built a system on top of the map that plans rescue routes by truck, boat and on foot — that's Track B. Five minutes: the problem and the best numbers, how I set it up, the results, and what I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August 2022 Seoul had 141.5 millimetres of rain in one hour, the most since 1907, and Gangnam's streets became rivers. In July 2023 the Osong underpass flooded in minutes and 14 people died. In the first hours, rescue coordinators need one answer per street and per house: can a truck get there, does it need a boat, or is it cut off? Drones deliver photos fast, but labelling one photo takes about an hour, and a normal segmentation model needs over a thousand labelled photos. So my question was: how far do 50 labelled photos get us, and is that map good enough to route rescue teams? The short answer is on the right: .507 mIoU on the whole FloodNet test set, a router that finds cut-off houses with F1 .752, and when the system says "confident: truck", it was right for all 208 such houses in the test photos. Fully supervised PSPNet gets .848, so this is a fast first map, not a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 encoded it. Every pixel of a 768 by 576 drone photo gets a five-channel label: clear road, flooded road, flooded building, dry building and water. Everything else — trees, grass, cars — is "other". Chameleon predicts one probability map per channel, and I decode it with a per-channel threshold tuned on 30 validation photos. Inference cuts the photo into six overlapping 384-pixel tiles. I chose the channels for the consumer: a router that works on 4-by-4 pixel cells, sends a truck on clear roads, a boat on water, and walks the last stretch. Things I rejected: all ten FloodNet classes, which spends the few labels on trees; a single "passable" channel, which can't plan a boat; and a cost map, for which no labels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FloodNet, from Hurricane Harvey, for the main experiments — I adapt on 1, 5, 10, 20 or 50 labelled photos, tune on 30, and test on all 448 test photos. RescueNet, from Hurricane Michael, is the second disaster. I did not label anything myself; every label is the dataset's own. The main pretrained weights are the course's Chameleon checkpoint, plus SAM to redraw building outlines; fine-tuning only touches the biases, the matching temperature and one LayerNorm, so each model is five megabytes. Same recipe for every run, sized to fit a free 16-gigabyte T4: 384-pixel crops, batch 2, Adam with a cosine schedule, half precision. Seven runs plus 21 improvement runs, about 29 GPU-hours on Kaggle. And the final notebook reruns on a fresh T4 in about 28 minutes. On Kaggle, where the stored predictions were made, the live ones are identical; on Colab, 99.99 percent of pixels come out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A results. The curve shows mIoU against the number of labelled photos, with 95 percent bootstrap intervals. From one to five photos the gain is real, plus .14. Between five and ten I could not measure any gain, and from 20 to 50 it jumps again by .10. On the full test set the final 50-shot model reaches .507, up from .472 for my first model after a round of 36 tested improvements. The dashed line is PSPNet, trained on all 1,445 labelled photos: .848. Most of the gap is flooded roads: .31 against .82 — shallow brown water and a dry road look very similar from above. And transfer: the FloodNet model applied to a different hurricane with zero new labels gets .32 on roads, buildings and water; with just 20 labels from the new disaster it gets .63. So every new disaster needs a few of its own labels — which is exactly the few-shot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B is the system around the map. The router finds the cheapest way from the entry point to every house: truck on clear roads, then a boat across water, then on foot — with vehicle widths, parked cars and tree canopy taken into account. Left is the predicted map, middle the same street routed on the human labels — the same house needs a boat on both. Right, the hurricane-Michael canal: truck to the canal, boat across, walk to the house. Against the labelled map the router finds the houses that are cut off by road with F1 .752 on the full test; the better map did not change routing measurably. And it says how sure it is: houses marked "confident: truck" were all right; "check first" 79 percent. Everything runs in a web map of all 200 test photos, and a Gradio app runs the model live on an uploaded photo in 17 seconds. [Live demo here if there is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learned. The most dangerous mistake is shallow water read as dry land: the map then invites a truck into water. Here is that failure, honestly: the model thought this flooded street was land. But the six houses it wrongly calls truck-reachable are all flagged "check first", because the system routes every map twice, once cautiously. A simple rule from the failure analysis — no off-road driving where the water probability is high — raised the cut-off F1 from .74 to .84. So: saying how sure we are matters more than a few IoU points. I also tried 36 improvement ideas on the 50-shot model, each judged only on the 30 tuning photos. Four survived: a shorter training schedule, averaging two snapshots, an edge-aware decode, and SAM to redraw building outlines; together .472 to .507 on the test set. Most others lost, for example pseudo-labels and rare-class losses, and test-time flips looked good on the tuning photos but lost on the test set. Limits: these are US hurricanes, not Korean city floods; single photos without GPS; and the labelled map is my router on human labels, not field-checked access.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F2A3A"/>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4A556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F2A3A"/>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4A556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jpe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pic>
        <p:nvPicPr>
          <p:cNvPr id="2" name="Image 0" descr="Drone photo of a flooded street after Hurricane Harvey: houses surrounded by brown water">    </p:cNvPr>
          <p:cNvPicPr>
            <a:picLocks noChangeAspect="1"/>
          </p:cNvPicPr>
          <p:nvPr/>
        </p:nvPicPr>
        <p:blipFill>
          <a:blip r:embed="rId1"/>
          <a:srcRect l="18056" r="18056" t="0" b="0"/>
          <a:stretch/>
        </p:blipFill>
        <p:spPr>
          <a:xfrm>
            <a:off x="6350000" y="0"/>
            <a:ext cx="5842000" cy="6858000"/>
          </a:xfrm>
          <a:prstGeom prst="rect">
            <a:avLst/>
          </a:prstGeom>
        </p:spPr>
      </p:pic>
      <p:sp>
        <p:nvSpPr>
          <p:cNvPr id="3" name="Shape 0"/>
          <p:cNvSpPr/>
          <p:nvPr/>
        </p:nvSpPr>
        <p:spPr>
          <a:xfrm>
            <a:off x="6350000" y="0"/>
            <a:ext cx="1524000" cy="6858000"/>
          </a:xfrm>
          <a:prstGeom prst="rect">
            <a:avLst/>
          </a:prstGeom>
          <a:gradFill rotWithShape="1">
            <a:gsLst>
              <a:gs pos="0">
                <a:srgbClr val="0F1B2D"/>
              </a:gs>
              <a:gs pos="100000">
                <a:srgbClr val="0F1B2D">
                  <a:alpha val="0"/>
                </a:srgbClr>
              </a:gs>
            </a:gsLst>
            <a:lin ang="0" scaled="0"/>
          </a:gradFill>
          <a:ln/>
        </p:spPr>
        <p:txBody>
          <a:bodyPr/>
          <a:p/>
        </p:txBody>
      </p:sp>
      <p:sp>
        <p:nvSpPr>
          <p:cNvPr id="4" name="Text 1"/>
          <p:cNvSpPr/>
          <p:nvPr/>
        </p:nvSpPr>
        <p:spPr>
          <a:xfrm>
            <a:off x="812800" y="1797100"/>
            <a:ext cx="5363210" cy="309860"/>
          </a:xfrm>
          <a:prstGeom prst="rect">
            <a:avLst/>
          </a:prstGeom>
          <a:noFill/>
          <a:ln/>
        </p:spPr>
        <p:txBody>
          <a:bodyPr wrap="square" lIns="0" tIns="0" rIns="0" bIns="0" rtlCol="0" anchor="t">
            <a:normAutofit/>
          </a:bodyPr>
          <a:lstStyle/>
          <a:p>
            <a:pPr algn="l" indent="0" marL="0">
              <a:lnSpc>
                <a:spcPts val="2240"/>
              </a:lnSpc>
              <a:buNone/>
            </a:pPr>
            <a:r>
              <a:rPr lang="en-US" sz="1600" spc="100" kern="0" dirty="0">
                <a:solidFill>
                  <a:srgbClr val="5CC8E8"/>
                </a:solidFill>
                <a:latin typeface="IBM Plex Sans" pitchFamily="34" charset="0"/>
                <a:ea typeface="IBM Plex Sans" pitchFamily="34" charset="-122"/>
                <a:cs typeface="IBM Plex Sans" pitchFamily="34" charset="-120"/>
              </a:rPr>
              <a:t>KAIST AIC200 · MINI-PROJECT</a:t>
            </a:r>
            <a:endParaRPr lang="en-US" sz="1600" dirty="0"/>
          </a:p>
        </p:txBody>
      </p:sp>
      <p:sp>
        <p:nvSpPr>
          <p:cNvPr id="5" name="Text 2"/>
          <p:cNvSpPr/>
          <p:nvPr>
            <p:ph type="title"/>
          </p:nvPr>
        </p:nvSpPr>
        <p:spPr>
          <a:xfrm>
            <a:off x="812800" y="2284760"/>
            <a:ext cx="5537200"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6F4EF"/>
                </a:solidFill>
                <a:latin typeface="Rubik" pitchFamily="34" charset="0"/>
                <a:ea typeface="Rubik" pitchFamily="34" charset="-122"/>
                <a:cs typeface="Rubik" pitchFamily="34" charset="-120"/>
              </a:rPr>
              <a:t>Rescue Router</a:t>
            </a:r>
            <a:endParaRPr lang="en-US" sz="5600" dirty="0"/>
          </a:p>
        </p:txBody>
      </p:sp>
      <p:sp>
        <p:nvSpPr>
          <p:cNvPr id="6" name="Text 3"/>
          <p:cNvSpPr/>
          <p:nvPr/>
        </p:nvSpPr>
        <p:spPr>
          <a:xfrm>
            <a:off x="812800" y="3234680"/>
            <a:ext cx="5363210"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DCE4EC"/>
                </a:solidFill>
                <a:latin typeface="IBM Plex Sans" pitchFamily="34" charset="0"/>
                <a:ea typeface="IBM Plex Sans" pitchFamily="34" charset="-122"/>
                <a:cs typeface="IBM Plex Sans" pitchFamily="34" charset="-120"/>
              </a:rPr>
              <a:t>Few-shot flood mapping and rescue routing with Chameleon</a:t>
            </a:r>
            <a:endParaRPr lang="en-US" sz="2200" dirty="0"/>
          </a:p>
        </p:txBody>
      </p:sp>
      <p:sp>
        <p:nvSpPr>
          <p:cNvPr id="7" name="Text 4"/>
          <p:cNvSpPr/>
          <p:nvPr/>
        </p:nvSpPr>
        <p:spPr>
          <a:xfrm>
            <a:off x="812800" y="4136380"/>
            <a:ext cx="1977479" cy="436860"/>
          </a:xfrm>
          <a:prstGeom prst="roundRect">
            <a:avLst>
              <a:gd name="adj" fmla="val 50000"/>
            </a:avLst>
          </a:prstGeom>
          <a:solidFill>
            <a:srgbClr val="5CC8E8"/>
          </a:solidFill>
          <a:ln/>
        </p:spPr>
        <p:txBody>
          <a:bodyPr wrap="none" lIns="0" tIns="0" rIns="0" bIns="0" rtlCol="0" anchor="ctr">
            <a:normAutofit/>
          </a:bodyPr>
          <a:lstStyle/>
          <a:p>
            <a:pPr algn="ctr" indent="0" marL="0">
              <a:lnSpc>
                <a:spcPts val="2240"/>
              </a:lnSpc>
              <a:buNone/>
            </a:pPr>
            <a:r>
              <a:rPr lang="en-US" sz="1600" b="1" dirty="0">
                <a:solidFill>
                  <a:srgbClr val="0F1B2D"/>
                </a:solidFill>
                <a:latin typeface="IBM Plex Sans" pitchFamily="34" charset="0"/>
                <a:ea typeface="IBM Plex Sans" pitchFamily="34" charset="-122"/>
                <a:cs typeface="IBM Plex Sans" pitchFamily="34" charset="-120"/>
              </a:rPr>
              <a:t>Track A + Track B</a:t>
            </a:r>
            <a:endParaRPr lang="en-US" sz="1600" dirty="0"/>
          </a:p>
        </p:txBody>
      </p:sp>
      <p:sp>
        <p:nvSpPr>
          <p:cNvPr id="8" name="Text 5"/>
          <p:cNvSpPr/>
          <p:nvPr/>
        </p:nvSpPr>
        <p:spPr>
          <a:xfrm>
            <a:off x="812800" y="4776440"/>
            <a:ext cx="536321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8C7D6"/>
                </a:solidFill>
                <a:latin typeface="IBM Plex Sans" pitchFamily="34" charset="0"/>
                <a:ea typeface="IBM Plex Sans" pitchFamily="34" charset="-122"/>
                <a:cs typeface="IBM Plex Sans" pitchFamily="34" charset="-120"/>
              </a:rPr>
              <a:t>Marlen Melis · 20260876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F2A3A"/>
                </a:solidFill>
                <a:latin typeface="Rubik" pitchFamily="34" charset="0"/>
                <a:ea typeface="Rubik" pitchFamily="34" charset="-122"/>
                <a:cs typeface="Rubik" pitchFamily="34" charset="-120"/>
              </a:rPr>
              <a:t>Which houses can a truck still reach?</a:t>
            </a:r>
            <a:endParaRPr lang="en-US" sz="3200" dirty="0"/>
          </a:p>
        </p:txBody>
      </p:sp>
      <p:sp>
        <p:nvSpPr>
          <p:cNvPr id="3" name="Text 1"/>
          <p:cNvSpPr/>
          <p:nvPr/>
        </p:nvSpPr>
        <p:spPr>
          <a:xfrm>
            <a:off x="812800" y="1513830"/>
            <a:ext cx="5834126"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A"/>
                </a:solidFill>
                <a:latin typeface="IBM Plex Sans" pitchFamily="34" charset="0"/>
                <a:ea typeface="IBM Plex Sans" pitchFamily="34" charset="-122"/>
                <a:cs typeface="IBM Plex Sans" pitchFamily="34" charset="-120"/>
              </a:rPr>
              <a:t>Seoul, Aug 2022:</a:t>
            </a:r>
            <a:r>
              <a:rPr lang="en-US" sz="1600" dirty="0">
                <a:solidFill>
                  <a:srgbClr val="4A5568"/>
                </a:solidFill>
                <a:latin typeface="IBM Plex Sans" pitchFamily="34" charset="0"/>
                <a:ea typeface="IBM Plex Sans" pitchFamily="34" charset="-122"/>
                <a:cs typeface="IBM Plex Sans" pitchFamily="34" charset="-120"/>
              </a:rPr>
              <a:t> 141.5 mm of rain in one hour, the most since 1907. Streets in Gangnam became rivers.</a:t>
            </a:r>
            <a:endParaRPr lang="en-US" sz="1600" dirty="0"/>
          </a:p>
        </p:txBody>
      </p:sp>
      <p:sp>
        <p:nvSpPr>
          <p:cNvPr id="4" name="Text 2"/>
          <p:cNvSpPr/>
          <p:nvPr/>
        </p:nvSpPr>
        <p:spPr>
          <a:xfrm>
            <a:off x="812800" y="2260550"/>
            <a:ext cx="5834126"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A"/>
                </a:solidFill>
                <a:latin typeface="IBM Plex Sans" pitchFamily="34" charset="0"/>
                <a:ea typeface="IBM Plex Sans" pitchFamily="34" charset="-122"/>
                <a:cs typeface="IBM Plex Sans" pitchFamily="34" charset="-120"/>
              </a:rPr>
              <a:t>Osong, Jul 2023:</a:t>
            </a:r>
            <a:r>
              <a:rPr lang="en-US" sz="1600" dirty="0">
                <a:solidFill>
                  <a:srgbClr val="4A5568"/>
                </a:solidFill>
                <a:latin typeface="IBM Plex Sans" pitchFamily="34" charset="0"/>
                <a:ea typeface="IBM Plex Sans" pitchFamily="34" charset="-122"/>
                <a:cs typeface="IBM Plex Sans" pitchFamily="34" charset="-120"/>
              </a:rPr>
              <a:t> an underpass flooded in minutes; 17 vehicles trapped, 14 people died.</a:t>
            </a:r>
            <a:endParaRPr lang="en-US" sz="1600" dirty="0"/>
          </a:p>
        </p:txBody>
      </p:sp>
      <p:sp>
        <p:nvSpPr>
          <p:cNvPr id="5" name="Text 3"/>
          <p:cNvSpPr/>
          <p:nvPr/>
        </p:nvSpPr>
        <p:spPr>
          <a:xfrm>
            <a:off x="812800" y="3007271"/>
            <a:ext cx="5834126"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Drone photos arrive within the hour. Turning them into a map is the slow part: </a:t>
            </a:r>
            <a:r>
              <a:rPr lang="en-US" sz="1600" b="1" dirty="0">
                <a:solidFill>
                  <a:srgbClr val="1F2A3A"/>
                </a:solidFill>
                <a:latin typeface="IBM Plex Sans" pitchFamily="34" charset="0"/>
                <a:ea typeface="IBM Plex Sans" pitchFamily="34" charset="-122"/>
                <a:cs typeface="IBM Plex Sans" pitchFamily="34" charset="-120"/>
              </a:rPr>
              <a:t>about one hour of labelling per photo</a:t>
            </a:r>
            <a:r>
              <a:rPr lang="en-US" sz="1600" dirty="0">
                <a:solidFill>
                  <a:srgbClr val="4A5568"/>
                </a:solidFill>
                <a:latin typeface="IBM Plex Sans" pitchFamily="34" charset="0"/>
                <a:ea typeface="IBM Plex Sans" pitchFamily="34" charset="-122"/>
                <a:cs typeface="IBM Plex Sans" pitchFamily="34" charset="-120"/>
              </a:rPr>
              <a:t>, and a standard model wants 1,445 labelled photos.</a:t>
            </a:r>
            <a:endParaRPr lang="en-US" sz="1600" dirty="0"/>
          </a:p>
        </p:txBody>
      </p:sp>
      <p:sp>
        <p:nvSpPr>
          <p:cNvPr id="6" name="Text 4"/>
          <p:cNvSpPr/>
          <p:nvPr/>
        </p:nvSpPr>
        <p:spPr>
          <a:xfrm>
            <a:off x="812800" y="4038451"/>
            <a:ext cx="5834126"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6FB2"/>
                </a:solidFill>
                <a:latin typeface="IBM Plex Sans" pitchFamily="34" charset="0"/>
                <a:ea typeface="IBM Plex Sans" pitchFamily="34" charset="-122"/>
                <a:cs typeface="IBM Plex Sans" pitchFamily="34" charset="-120"/>
              </a:rPr>
              <a:t>My question: how far do 50 labelled photos get us, and can the map route rescue teams?</a:t>
            </a:r>
            <a:endParaRPr lang="en-US" sz="1600" dirty="0"/>
          </a:p>
        </p:txBody>
      </p:sp>
      <p:sp>
        <p:nvSpPr>
          <p:cNvPr id="7" name="Shape 5"/>
          <p:cNvSpPr/>
          <p:nvPr/>
        </p:nvSpPr>
        <p:spPr>
          <a:xfrm>
            <a:off x="6937375" y="1517005"/>
            <a:ext cx="4438650" cy="1278830"/>
          </a:xfrm>
          <a:prstGeom prst="roundRect">
            <a:avLst>
              <a:gd name="adj" fmla="val 7696"/>
            </a:avLst>
          </a:prstGeom>
          <a:solidFill>
            <a:srgbClr val="FFFFFF"/>
          </a:solidFill>
          <a:ln w="6350">
            <a:solidFill>
              <a:srgbClr val="E3E1DA"/>
            </a:solidFill>
            <a:prstDash val="solid"/>
          </a:ln>
        </p:spPr>
        <p:txBody>
          <a:bodyPr/>
          <a:p/>
        </p:txBody>
      </p:sp>
      <p:sp>
        <p:nvSpPr>
          <p:cNvPr id="8" name="Text 6"/>
          <p:cNvSpPr/>
          <p:nvPr/>
        </p:nvSpPr>
        <p:spPr>
          <a:xfrm>
            <a:off x="7143750" y="1659880"/>
            <a:ext cx="414667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F6FB2"/>
                </a:solidFill>
                <a:latin typeface="Rubik" pitchFamily="34" charset="0"/>
                <a:ea typeface="Rubik" pitchFamily="34" charset="-122"/>
                <a:cs typeface="Rubik" pitchFamily="34" charset="-120"/>
              </a:rPr>
              <a:t>.507 mIoU</a:t>
            </a:r>
            <a:endParaRPr lang="en-US" sz="3600" dirty="0"/>
          </a:p>
        </p:txBody>
      </p:sp>
      <p:sp>
        <p:nvSpPr>
          <p:cNvPr id="9" name="Text 7"/>
          <p:cNvSpPr/>
          <p:nvPr/>
        </p:nvSpPr>
        <p:spPr>
          <a:xfrm>
            <a:off x="7143750" y="2155180"/>
            <a:ext cx="414667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flood map on all 448 FloodNet test photos, from 50 labelled photos (PSPNet with 1,445: .848)</a:t>
            </a:r>
            <a:endParaRPr lang="en-US" sz="1400" dirty="0"/>
          </a:p>
        </p:txBody>
      </p:sp>
      <p:sp>
        <p:nvSpPr>
          <p:cNvPr id="10" name="Shape 8"/>
          <p:cNvSpPr/>
          <p:nvPr/>
        </p:nvSpPr>
        <p:spPr>
          <a:xfrm>
            <a:off x="6937375" y="2954586"/>
            <a:ext cx="4438650" cy="1029940"/>
          </a:xfrm>
          <a:prstGeom prst="roundRect">
            <a:avLst>
              <a:gd name="adj" fmla="val 9556"/>
            </a:avLst>
          </a:prstGeom>
          <a:solidFill>
            <a:srgbClr val="FFFFFF"/>
          </a:solidFill>
          <a:ln w="6350">
            <a:solidFill>
              <a:srgbClr val="E3E1DA"/>
            </a:solidFill>
            <a:prstDash val="solid"/>
          </a:ln>
        </p:spPr>
        <p:txBody>
          <a:bodyPr/>
          <a:p/>
        </p:txBody>
      </p:sp>
      <p:sp>
        <p:nvSpPr>
          <p:cNvPr id="11" name="Text 9"/>
          <p:cNvSpPr/>
          <p:nvPr/>
        </p:nvSpPr>
        <p:spPr>
          <a:xfrm>
            <a:off x="7143750" y="3097461"/>
            <a:ext cx="414667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F6FB2"/>
                </a:solidFill>
                <a:latin typeface="Rubik" pitchFamily="34" charset="0"/>
                <a:ea typeface="Rubik" pitchFamily="34" charset="-122"/>
                <a:cs typeface="Rubik" pitchFamily="34" charset="-120"/>
              </a:rPr>
              <a:t>.752 F1</a:t>
            </a:r>
            <a:endParaRPr lang="en-US" sz="3600" dirty="0"/>
          </a:p>
        </p:txBody>
      </p:sp>
      <p:sp>
        <p:nvSpPr>
          <p:cNvPr id="12" name="Text 10"/>
          <p:cNvSpPr/>
          <p:nvPr/>
        </p:nvSpPr>
        <p:spPr>
          <a:xfrm>
            <a:off x="7143750" y="3592761"/>
            <a:ext cx="414667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finding the houses cut off by road</a:t>
            </a:r>
            <a:endParaRPr lang="en-US" sz="1400" dirty="0"/>
          </a:p>
        </p:txBody>
      </p:sp>
      <p:sp>
        <p:nvSpPr>
          <p:cNvPr id="13" name="Shape 11"/>
          <p:cNvSpPr/>
          <p:nvPr/>
        </p:nvSpPr>
        <p:spPr>
          <a:xfrm>
            <a:off x="6937375" y="4143276"/>
            <a:ext cx="4438650" cy="1278830"/>
          </a:xfrm>
          <a:prstGeom prst="roundRect">
            <a:avLst>
              <a:gd name="adj" fmla="val 7696"/>
            </a:avLst>
          </a:prstGeom>
          <a:solidFill>
            <a:srgbClr val="FFFFFF"/>
          </a:solidFill>
          <a:ln w="6350">
            <a:solidFill>
              <a:srgbClr val="E3E1DA"/>
            </a:solidFill>
            <a:prstDash val="solid"/>
          </a:ln>
        </p:spPr>
        <p:txBody>
          <a:bodyPr/>
          <a:p/>
        </p:txBody>
      </p:sp>
      <p:sp>
        <p:nvSpPr>
          <p:cNvPr id="14" name="Text 12"/>
          <p:cNvSpPr/>
          <p:nvPr/>
        </p:nvSpPr>
        <p:spPr>
          <a:xfrm>
            <a:off x="7143750" y="4286151"/>
            <a:ext cx="414667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85A12"/>
                </a:solidFill>
                <a:latin typeface="Rubik" pitchFamily="34" charset="0"/>
                <a:ea typeface="Rubik" pitchFamily="34" charset="-122"/>
                <a:cs typeface="Rubik" pitchFamily="34" charset="-120"/>
              </a:rPr>
              <a:t>100 %</a:t>
            </a:r>
            <a:endParaRPr lang="en-US" sz="3600" dirty="0"/>
          </a:p>
        </p:txBody>
      </p:sp>
      <p:sp>
        <p:nvSpPr>
          <p:cNvPr id="15" name="Text 13"/>
          <p:cNvSpPr/>
          <p:nvPr/>
        </p:nvSpPr>
        <p:spPr>
          <a:xfrm>
            <a:off x="7143750" y="4781451"/>
            <a:ext cx="414667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of houses marked “confident: truck” were truly reachable by truck</a:t>
            </a:r>
            <a:endParaRPr lang="en-US" sz="1400" dirty="0"/>
          </a:p>
        </p:txBody>
      </p:sp>
      <p:sp>
        <p:nvSpPr>
          <p:cNvPr id="16" name="Text 14"/>
          <p:cNvSpPr/>
          <p:nvPr/>
        </p:nvSpPr>
        <p:spPr>
          <a:xfrm>
            <a:off x="812800" y="6238280"/>
            <a:ext cx="3408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Rescue Router · Marlen Melis · 20260876</a:t>
            </a:r>
            <a:endParaRPr lang="en-US" sz="1200" dirty="0"/>
          </a:p>
        </p:txBody>
      </p:sp>
      <p:sp>
        <p:nvSpPr>
          <p:cNvPr id="17" name="Text 15"/>
          <p:cNvSpPr/>
          <p:nvPr/>
        </p:nvSpPr>
        <p:spPr>
          <a:xfrm>
            <a:off x="11003379" y="6238280"/>
            <a:ext cx="37582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1 / 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F2A3A"/>
                </a:solidFill>
                <a:latin typeface="Rubik" pitchFamily="34" charset="0"/>
                <a:ea typeface="Rubik" pitchFamily="34" charset="-122"/>
                <a:cs typeface="Rubik" pitchFamily="34" charset="-120"/>
              </a:rPr>
              <a:t>One photo in, five dense channels out</a:t>
            </a:r>
            <a:endParaRPr lang="en-US" sz="3200" dirty="0"/>
          </a:p>
        </p:txBody>
      </p:sp>
      <p:pic>
        <p:nvPicPr>
          <p:cNvPr id="3" name="Image 0" descr="Drone photo, FloodNet test photo 7301: a flooded residential street">    </p:cNvPr>
          <p:cNvPicPr>
            <a:picLocks noChangeAspect="1"/>
          </p:cNvPicPr>
          <p:nvPr/>
        </p:nvPicPr>
        <p:blipFill>
          <a:blip r:embed="rId1"/>
          <a:srcRect l="0" r="0" t="0" b="0"/>
          <a:stretch/>
        </p:blipFill>
        <p:spPr>
          <a:xfrm>
            <a:off x="812800" y="1564630"/>
            <a:ext cx="2794000" cy="2095500"/>
          </a:xfrm>
          <a:prstGeom prst="roundRect">
            <a:avLst>
              <a:gd name="adj" fmla="val 3636"/>
            </a:avLst>
          </a:prstGeom>
        </p:spPr>
      </p:pic>
      <p:sp>
        <p:nvSpPr>
          <p:cNvPr id="4" name="Text 1"/>
          <p:cNvSpPr/>
          <p:nvPr/>
        </p:nvSpPr>
        <p:spPr>
          <a:xfrm>
            <a:off x="812800" y="3736330"/>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drone photo (768×576)</a:t>
            </a:r>
            <a:endParaRPr lang="en-US" sz="1200" dirty="0"/>
          </a:p>
        </p:txBody>
      </p:sp>
      <p:pic>
        <p:nvPicPr>
          <p:cNvPr id="5" name="Image 1" descr="The same photo with its five-class label overlaid: blue flooded road, red flooded buildings, amber dry buildings, navy water">    </p:cNvPr>
          <p:cNvPicPr>
            <a:picLocks noChangeAspect="1"/>
          </p:cNvPicPr>
          <p:nvPr/>
        </p:nvPicPr>
        <p:blipFill>
          <a:blip r:embed="rId2"/>
          <a:srcRect l="0" r="0" t="0" b="0"/>
          <a:stretch/>
        </p:blipFill>
        <p:spPr>
          <a:xfrm>
            <a:off x="3911600" y="1564630"/>
            <a:ext cx="2794000" cy="2095500"/>
          </a:xfrm>
          <a:prstGeom prst="roundRect">
            <a:avLst>
              <a:gd name="adj" fmla="val 3636"/>
            </a:avLst>
          </a:prstGeom>
        </p:spPr>
      </p:pic>
      <p:sp>
        <p:nvSpPr>
          <p:cNvPr id="6" name="Text 2"/>
          <p:cNvSpPr/>
          <p:nvPr/>
        </p:nvSpPr>
        <p:spPr>
          <a:xfrm>
            <a:off x="3911600" y="3736330"/>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label: 5 channels, the rest is “other”</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023100" y="1577330"/>
          <a:ext cx="4178300" cy="2155924"/>
        </p:xfrm>
        <a:graphic>
          <a:graphicData uri="http://schemas.openxmlformats.org/drawingml/2006/table">
            <a:tbl>
              <a:tblPr/>
              <a:tblGrid>
                <a:gridCol w="417830"/>
                <a:gridCol w="2005584"/>
                <a:gridCol w="1754886"/>
              </a:tblGrid>
              <a:tr h="359321">
                <a:tc>
                  <a:txBody>
                    <a:bodyPr/>
                    <a:lstStyle/>
                    <a:p>
                      <a:pPr indent="0" marL="0">
                        <a:lnSpc>
                          <a:spcPts val="1820"/>
                        </a:lnSpc>
                        <a:buNone/>
                      </a:pPr>
                      <a:r>
                        <a:rPr lang="en-US" sz="1300" b="1" dirty="0">
                          <a:solidFill>
                            <a:srgbClr val="1F2A3A"/>
                          </a:solidFill>
                          <a:latin typeface="IBM Plex Sans" pitchFamily="34" charset="0"/>
                          <a:ea typeface="IBM Plex Sans" pitchFamily="34" charset="-122"/>
                          <a:cs typeface="IBM Plex Sans" pitchFamily="34" charset="-120"/>
                        </a:rPr>
                        <a:t>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820"/>
                        </a:lnSpc>
                        <a:buNone/>
                      </a:pPr>
                      <a:r>
                        <a:rPr lang="en-US" sz="1300" b="1" dirty="0">
                          <a:solidFill>
                            <a:srgbClr val="1F2A3A"/>
                          </a:solidFill>
                          <a:latin typeface="IBM Plex Sans" pitchFamily="34" charset="0"/>
                          <a:ea typeface="IBM Plex Sans" pitchFamily="34" charset="-122"/>
                          <a:cs typeface="IBM Plex Sans" pitchFamily="34" charset="-120"/>
                        </a:rPr>
                        <a:t>class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820"/>
                        </a:lnSpc>
                        <a:buNone/>
                      </a:pPr>
                      <a:r>
                        <a:rPr lang="en-US" sz="1300" b="1" dirty="0">
                          <a:solidFill>
                            <a:srgbClr val="1F2A3A"/>
                          </a:solidFill>
                          <a:latin typeface="IBM Plex Sans" pitchFamily="34" charset="0"/>
                          <a:ea typeface="IBM Plex Sans" pitchFamily="34" charset="-122"/>
                          <a:cs typeface="IBM Plex Sans" pitchFamily="34" charset="-120"/>
                        </a:rPr>
                        <a:t>for the router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59321">
                <a:tc>
                  <a:txBody>
                    <a:bodyPr/>
                    <a:lstStyle/>
                    <a:p>
                      <a:pPr indent="0" marL="0">
                        <a:lnSpc>
                          <a:spcPts val="1820"/>
                        </a:lnSpc>
                        <a:buNone/>
                      </a:pPr>
                      <a:r>
                        <a:rPr lang="en-US" sz="1300" dirty="0">
                          <a:solidFill>
                            <a:srgbClr val="1F2A3A"/>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3A"/>
                          </a:solidFill>
                          <a:latin typeface="IBM Plex Sans" pitchFamily="34" charset="0"/>
                          <a:ea typeface="IBM Plex Sans" pitchFamily="34" charset="-122"/>
                          <a:cs typeface="IBM Plex Sans" pitchFamily="34" charset="-120"/>
                        </a:rPr>
                        <a:t>road clear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3A"/>
                          </a:solidFill>
                          <a:latin typeface="IBM Plex Sans" pitchFamily="34" charset="0"/>
                          <a:ea typeface="IBM Plex Sans" pitchFamily="34" charset="-122"/>
                          <a:cs typeface="IBM Plex Sans" pitchFamily="34" charset="-120"/>
                        </a:rPr>
                        <a:t>truck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F2A3A"/>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3A"/>
                          </a:solidFill>
                          <a:latin typeface="IBM Plex Sans" pitchFamily="34" charset="0"/>
                          <a:ea typeface="IBM Plex Sans" pitchFamily="34" charset="-122"/>
                          <a:cs typeface="IBM Plex Sans" pitchFamily="34" charset="-120"/>
                        </a:rPr>
                        <a:t>road flooded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3A"/>
                          </a:solidFill>
                          <a:latin typeface="IBM Plex Sans" pitchFamily="34" charset="0"/>
                          <a:ea typeface="IBM Plex Sans" pitchFamily="34" charset="-122"/>
                          <a:cs typeface="IBM Plex Sans" pitchFamily="34" charset="-120"/>
                        </a:rPr>
                        <a:t>boat only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F2A3A"/>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3A"/>
                          </a:solidFill>
                          <a:latin typeface="IBM Plex Sans" pitchFamily="34" charset="0"/>
                          <a:ea typeface="IBM Plex Sans" pitchFamily="34" charset="-122"/>
                          <a:cs typeface="IBM Plex Sans" pitchFamily="34" charset="-120"/>
                        </a:rPr>
                        <a:t>building flooded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3A"/>
                          </a:solidFill>
                          <a:latin typeface="IBM Plex Sans" pitchFamily="34" charset="0"/>
                          <a:ea typeface="IBM Plex Sans" pitchFamily="34" charset="-122"/>
                          <a:cs typeface="IBM Plex Sans" pitchFamily="34" charset="-120"/>
                        </a:rPr>
                        <a:t>target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F2A3A"/>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3A"/>
                          </a:solidFill>
                          <a:latin typeface="IBM Plex Sans" pitchFamily="34" charset="0"/>
                          <a:ea typeface="IBM Plex Sans" pitchFamily="34" charset="-122"/>
                          <a:cs typeface="IBM Plex Sans" pitchFamily="34" charset="-120"/>
                        </a:rPr>
                        <a:t>building dry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3A"/>
                          </a:solidFill>
                          <a:latin typeface="IBM Plex Sans" pitchFamily="34" charset="0"/>
                          <a:ea typeface="IBM Plex Sans" pitchFamily="34" charset="-122"/>
                          <a:cs typeface="IBM Plex Sans" pitchFamily="34" charset="-120"/>
                        </a:rPr>
                        <a:t>target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F2A3A"/>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3A"/>
                          </a:solidFill>
                          <a:latin typeface="IBM Plex Sans" pitchFamily="34" charset="0"/>
                          <a:ea typeface="IBM Plex Sans" pitchFamily="34" charset="-122"/>
                          <a:cs typeface="IBM Plex Sans" pitchFamily="34" charset="-120"/>
                        </a:rPr>
                        <a:t>water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3A"/>
                          </a:solidFill>
                          <a:latin typeface="IBM Plex Sans" pitchFamily="34" charset="0"/>
                          <a:ea typeface="IBM Plex Sans" pitchFamily="34" charset="-122"/>
                          <a:cs typeface="IBM Plex Sans" pitchFamily="34" charset="-120"/>
                        </a:rPr>
                        <a:t>boat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8" name="Text 3"/>
          <p:cNvSpPr/>
          <p:nvPr/>
        </p:nvSpPr>
        <p:spPr>
          <a:xfrm>
            <a:off x="812800" y="4254450"/>
            <a:ext cx="3418484" cy="102096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A"/>
                </a:solidFill>
                <a:latin typeface="IBM Plex Sans" pitchFamily="34" charset="0"/>
                <a:ea typeface="IBM Plex Sans" pitchFamily="34" charset="-122"/>
                <a:cs typeface="IBM Plex Sans" pitchFamily="34" charset="-120"/>
              </a:rPr>
              <a:t>Output:</a:t>
            </a:r>
            <a:r>
              <a:rPr lang="en-US" sz="1400" dirty="0">
                <a:solidFill>
                  <a:srgbClr val="4A5568"/>
                </a:solidFill>
                <a:latin typeface="IBM Plex Sans" pitchFamily="34" charset="0"/>
                <a:ea typeface="IBM Plex Sans" pitchFamily="34" charset="-122"/>
                <a:cs typeface="IBM Plex Sans" pitchFamily="34" charset="-120"/>
              </a:rPr>
              <a:t> one sigmoid map per channel, decoded with a threshold per channel tuned on 30 validation photos. 384-px tiles, 6 per photo, blended.</a:t>
            </a:r>
            <a:endParaRPr lang="en-US" sz="1400" dirty="0"/>
          </a:p>
        </p:txBody>
      </p:sp>
      <p:sp>
        <p:nvSpPr>
          <p:cNvPr id="9" name="Text 4"/>
          <p:cNvSpPr/>
          <p:nvPr/>
        </p:nvSpPr>
        <p:spPr>
          <a:xfrm>
            <a:off x="4436517" y="4254450"/>
            <a:ext cx="3418535" cy="102096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A"/>
                </a:solidFill>
                <a:latin typeface="IBM Plex Sans" pitchFamily="34" charset="0"/>
                <a:ea typeface="IBM Plex Sans" pitchFamily="34" charset="-122"/>
                <a:cs typeface="IBM Plex Sans" pitchFamily="34" charset="-120"/>
              </a:rPr>
              <a:t>Then a router</a:t>
            </a:r>
            <a:r>
              <a:rPr lang="en-US" sz="1400" dirty="0">
                <a:solidFill>
                  <a:srgbClr val="4A5568"/>
                </a:solidFill>
                <a:latin typeface="IBM Plex Sans" pitchFamily="34" charset="0"/>
                <a:ea typeface="IBM Plex Sans" pitchFamily="34" charset="-122"/>
                <a:cs typeface="IBM Plex Sans" pitchFamily="34" charset="-120"/>
              </a:rPr>
              <a:t> on 4×4-px cells: truck on clear road, boat on water, the last stretch on foot. Its labels: cut off by road or not.</a:t>
            </a:r>
            <a:endParaRPr lang="en-US" sz="1400" dirty="0"/>
          </a:p>
        </p:txBody>
      </p:sp>
      <p:sp>
        <p:nvSpPr>
          <p:cNvPr id="10" name="Text 5"/>
          <p:cNvSpPr/>
          <p:nvPr/>
        </p:nvSpPr>
        <p:spPr>
          <a:xfrm>
            <a:off x="8060283" y="4254450"/>
            <a:ext cx="3418484" cy="102096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A"/>
                </a:solidFill>
                <a:latin typeface="IBM Plex Sans" pitchFamily="34" charset="0"/>
                <a:ea typeface="IBM Plex Sans" pitchFamily="34" charset="-122"/>
                <a:cs typeface="IBM Plex Sans" pitchFamily="34" charset="-120"/>
              </a:rPr>
              <a:t>Rejected:</a:t>
            </a:r>
            <a:r>
              <a:rPr lang="en-US" sz="1400" dirty="0">
                <a:solidFill>
                  <a:srgbClr val="4A5568"/>
                </a:solidFill>
                <a:latin typeface="IBM Plex Sans" pitchFamily="34" charset="0"/>
                <a:ea typeface="IBM Plex Sans" pitchFamily="34" charset="-122"/>
                <a:cs typeface="IBM Plex Sans" pitchFamily="34" charset="-120"/>
              </a:rPr>
              <a:t> all 10 classes (wastes 50 shots), one “passable” channel (no boat leg), a cost map (no labels), trees as obstacles.</a:t>
            </a:r>
            <a:endParaRPr lang="en-US" sz="1400" dirty="0"/>
          </a:p>
        </p:txBody>
      </p:sp>
      <p:sp>
        <p:nvSpPr>
          <p:cNvPr id="11" name="Text 6"/>
          <p:cNvSpPr/>
          <p:nvPr/>
        </p:nvSpPr>
        <p:spPr>
          <a:xfrm>
            <a:off x="812800" y="6238280"/>
            <a:ext cx="3408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Rescue Router · Marlen Melis · 20260876</a:t>
            </a:r>
            <a:endParaRPr lang="en-US" sz="1200" dirty="0"/>
          </a:p>
        </p:txBody>
      </p:sp>
      <p:sp>
        <p:nvSpPr>
          <p:cNvPr id="12" name="Text 7"/>
          <p:cNvSpPr/>
          <p:nvPr/>
        </p:nvSpPr>
        <p:spPr>
          <a:xfrm>
            <a:off x="11003379" y="6238280"/>
            <a:ext cx="37582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2 / 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F2A3A"/>
                </a:solidFill>
                <a:latin typeface="Rubik" pitchFamily="34" charset="0"/>
                <a:ea typeface="Rubik" pitchFamily="34" charset="-122"/>
                <a:cs typeface="Rubik" pitchFamily="34" charset="-120"/>
              </a:rPr>
              <a:t>Data, weights and training</a:t>
            </a:r>
            <a:endParaRPr lang="en-US" sz="3200" dirty="0"/>
          </a:p>
        </p:txBody>
      </p:sp>
      <p:sp>
        <p:nvSpPr>
          <p:cNvPr id="3" name="Shape 1"/>
          <p:cNvSpPr/>
          <p:nvPr/>
        </p:nvSpPr>
        <p:spPr>
          <a:xfrm>
            <a:off x="815975" y="1517005"/>
            <a:ext cx="3380284" cy="3498900"/>
          </a:xfrm>
          <a:prstGeom prst="roundRect">
            <a:avLst>
              <a:gd name="adj" fmla="val 2912"/>
            </a:avLst>
          </a:prstGeom>
          <a:solidFill>
            <a:srgbClr val="FFFFFF"/>
          </a:solidFill>
          <a:ln w="6350">
            <a:solidFill>
              <a:srgbClr val="E3E1DA"/>
            </a:solidFill>
            <a:prstDash val="solid"/>
          </a:ln>
        </p:spPr>
        <p:txBody>
          <a:bodyPr/>
          <a:p/>
        </p:txBody>
      </p:sp>
      <p:sp>
        <p:nvSpPr>
          <p:cNvPr id="4" name="Text 2"/>
          <p:cNvSpPr/>
          <p:nvPr/>
        </p:nvSpPr>
        <p:spPr>
          <a:xfrm>
            <a:off x="1022350" y="1723380"/>
            <a:ext cx="30565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6FB2"/>
                </a:solidFill>
                <a:latin typeface="Rubik" pitchFamily="34" charset="0"/>
                <a:ea typeface="Rubik" pitchFamily="34" charset="-122"/>
                <a:cs typeface="Rubik" pitchFamily="34" charset="-120"/>
              </a:rPr>
              <a:t>Data</a:t>
            </a:r>
            <a:endParaRPr lang="en-US" sz="2200" dirty="0"/>
          </a:p>
        </p:txBody>
      </p:sp>
      <p:sp>
        <p:nvSpPr>
          <p:cNvPr id="5" name="Text 3"/>
          <p:cNvSpPr/>
          <p:nvPr/>
        </p:nvSpPr>
        <p:spPr>
          <a:xfrm>
            <a:off x="1022350" y="2185640"/>
            <a:ext cx="3056560"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A"/>
                </a:solidFill>
                <a:latin typeface="IBM Plex Sans" pitchFamily="34" charset="0"/>
                <a:ea typeface="IBM Plex Sans" pitchFamily="34" charset="-122"/>
                <a:cs typeface="IBM Plex Sans" pitchFamily="34" charset="-120"/>
              </a:rPr>
              <a:t>FloodNet</a:t>
            </a:r>
            <a:r>
              <a:rPr lang="en-US" sz="1400" dirty="0">
                <a:solidFill>
                  <a:srgbClr val="4A5568"/>
                </a:solidFill>
                <a:latin typeface="IBM Plex Sans" pitchFamily="34" charset="0"/>
                <a:ea typeface="IBM Plex Sans" pitchFamily="34" charset="-122"/>
                <a:cs typeface="IBM Plex Sans" pitchFamily="34" charset="-120"/>
              </a:rPr>
              <a:t> (Hurricane Harvey, 2017): 1, 5, 10, 20 or 50 labelled photos to adapt; 30 to tune; 448 to test.</a:t>
            </a:r>
            <a:endParaRPr lang="en-US" sz="1400" dirty="0"/>
          </a:p>
        </p:txBody>
      </p:sp>
      <p:sp>
        <p:nvSpPr>
          <p:cNvPr id="6" name="Text 4"/>
          <p:cNvSpPr/>
          <p:nvPr/>
        </p:nvSpPr>
        <p:spPr>
          <a:xfrm>
            <a:off x="1022350" y="3059311"/>
            <a:ext cx="3056560"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A"/>
                </a:solidFill>
                <a:latin typeface="IBM Plex Sans" pitchFamily="34" charset="0"/>
                <a:ea typeface="IBM Plex Sans" pitchFamily="34" charset="-122"/>
                <a:cs typeface="IBM Plex Sans" pitchFamily="34" charset="-120"/>
              </a:rPr>
              <a:t>RescueNet</a:t>
            </a:r>
            <a:r>
              <a:rPr lang="en-US" sz="1400" dirty="0">
                <a:solidFill>
                  <a:srgbClr val="4A5568"/>
                </a:solidFill>
                <a:latin typeface="IBM Plex Sans" pitchFamily="34" charset="0"/>
                <a:ea typeface="IBM Plex Sans" pitchFamily="34" charset="-122"/>
                <a:cs typeface="IBM Plex Sans" pitchFamily="34" charset="-120"/>
              </a:rPr>
              <a:t> (Hurricane Michael, 2018): a second disaster, 20 or 50 photos.</a:t>
            </a:r>
            <a:endParaRPr lang="en-US" sz="1400" dirty="0"/>
          </a:p>
        </p:txBody>
      </p:sp>
      <p:sp>
        <p:nvSpPr>
          <p:cNvPr id="7" name="Text 5"/>
          <p:cNvSpPr/>
          <p:nvPr/>
        </p:nvSpPr>
        <p:spPr>
          <a:xfrm>
            <a:off x="1022350" y="3932982"/>
            <a:ext cx="305656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I labelled nothing: all labels are the datasets’.</a:t>
            </a:r>
            <a:endParaRPr lang="en-US" sz="1400" dirty="0"/>
          </a:p>
        </p:txBody>
      </p:sp>
      <p:sp>
        <p:nvSpPr>
          <p:cNvPr id="8" name="Shape 6"/>
          <p:cNvSpPr/>
          <p:nvPr/>
        </p:nvSpPr>
        <p:spPr>
          <a:xfrm>
            <a:off x="4405809" y="1517005"/>
            <a:ext cx="3380333" cy="3498900"/>
          </a:xfrm>
          <a:prstGeom prst="roundRect">
            <a:avLst>
              <a:gd name="adj" fmla="val 2912"/>
            </a:avLst>
          </a:prstGeom>
          <a:solidFill>
            <a:srgbClr val="FFFFFF"/>
          </a:solidFill>
          <a:ln w="6350">
            <a:solidFill>
              <a:srgbClr val="E3E1DA"/>
            </a:solidFill>
            <a:prstDash val="solid"/>
          </a:ln>
        </p:spPr>
        <p:txBody>
          <a:bodyPr/>
          <a:p/>
        </p:txBody>
      </p:sp>
      <p:sp>
        <p:nvSpPr>
          <p:cNvPr id="9" name="Text 7"/>
          <p:cNvSpPr/>
          <p:nvPr/>
        </p:nvSpPr>
        <p:spPr>
          <a:xfrm>
            <a:off x="4612184" y="1723380"/>
            <a:ext cx="305661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6FB2"/>
                </a:solidFill>
                <a:latin typeface="Rubik" pitchFamily="34" charset="0"/>
                <a:ea typeface="Rubik" pitchFamily="34" charset="-122"/>
                <a:cs typeface="Rubik" pitchFamily="34" charset="-120"/>
              </a:rPr>
              <a:t>Weights</a:t>
            </a:r>
            <a:endParaRPr lang="en-US" sz="2200" dirty="0"/>
          </a:p>
        </p:txBody>
      </p:sp>
      <p:sp>
        <p:nvSpPr>
          <p:cNvPr id="10" name="Text 8"/>
          <p:cNvSpPr/>
          <p:nvPr/>
        </p:nvSpPr>
        <p:spPr>
          <a:xfrm>
            <a:off x="4612184" y="2185640"/>
            <a:ext cx="3056611"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course’s </a:t>
            </a:r>
            <a:r>
              <a:rPr lang="en-US" sz="1400" b="1" dirty="0">
                <a:solidFill>
                  <a:srgbClr val="1F2A3A"/>
                </a:solidFill>
                <a:latin typeface="IBM Plex Sans" pitchFamily="34" charset="0"/>
                <a:ea typeface="IBM Plex Sans" pitchFamily="34" charset="-122"/>
                <a:cs typeface="IBM Plex Sans" pitchFamily="34" charset="-120"/>
              </a:rPr>
              <a:t>Chameleon</a:t>
            </a:r>
            <a:r>
              <a:rPr lang="en-US" sz="1400" dirty="0">
                <a:solidFill>
                  <a:srgbClr val="4A5568"/>
                </a:solidFill>
                <a:latin typeface="IBM Plex Sans" pitchFamily="34" charset="0"/>
                <a:ea typeface="IBM Plex Sans" pitchFamily="34" charset="-122"/>
                <a:cs typeface="IBM Plex Sans" pitchFamily="34" charset="-120"/>
              </a:rPr>
              <a:t> meta-trained checkpoint (Kim et al., ECCV 2024), with its BEiT-v2-Large image encoder.</a:t>
            </a:r>
            <a:endParaRPr lang="en-US" sz="1400" dirty="0"/>
          </a:p>
        </p:txBody>
      </p:sp>
      <p:sp>
        <p:nvSpPr>
          <p:cNvPr id="11" name="Text 9"/>
          <p:cNvSpPr/>
          <p:nvPr/>
        </p:nvSpPr>
        <p:spPr>
          <a:xfrm>
            <a:off x="4612184" y="3308201"/>
            <a:ext cx="3056611"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Fine-tuned: biases, temperature, one LayerNorm (5 MB per model). Plus SAM to redraw building outlines.</a:t>
            </a:r>
            <a:endParaRPr lang="en-US" sz="1400" dirty="0"/>
          </a:p>
        </p:txBody>
      </p:sp>
      <p:sp>
        <p:nvSpPr>
          <p:cNvPr id="12" name="Shape 10"/>
          <p:cNvSpPr/>
          <p:nvPr/>
        </p:nvSpPr>
        <p:spPr>
          <a:xfrm>
            <a:off x="7995692" y="1517005"/>
            <a:ext cx="3380333" cy="3498900"/>
          </a:xfrm>
          <a:prstGeom prst="roundRect">
            <a:avLst>
              <a:gd name="adj" fmla="val 2912"/>
            </a:avLst>
          </a:prstGeom>
          <a:solidFill>
            <a:srgbClr val="FFFFFF"/>
          </a:solidFill>
          <a:ln w="6350">
            <a:solidFill>
              <a:srgbClr val="E3E1DA"/>
            </a:solidFill>
            <a:prstDash val="solid"/>
          </a:ln>
        </p:spPr>
        <p:txBody>
          <a:bodyPr/>
          <a:p/>
        </p:txBody>
      </p:sp>
      <p:sp>
        <p:nvSpPr>
          <p:cNvPr id="13" name="Text 11"/>
          <p:cNvSpPr/>
          <p:nvPr/>
        </p:nvSpPr>
        <p:spPr>
          <a:xfrm>
            <a:off x="8202067" y="1723380"/>
            <a:ext cx="305661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6FB2"/>
                </a:solidFill>
                <a:latin typeface="Rubik" pitchFamily="34" charset="0"/>
                <a:ea typeface="Rubik" pitchFamily="34" charset="-122"/>
                <a:cs typeface="Rubik" pitchFamily="34" charset="-120"/>
              </a:rPr>
              <a:t>Training</a:t>
            </a:r>
            <a:endParaRPr lang="en-US" sz="2200" dirty="0"/>
          </a:p>
        </p:txBody>
      </p:sp>
      <p:sp>
        <p:nvSpPr>
          <p:cNvPr id="14" name="Text 12"/>
          <p:cNvSpPr/>
          <p:nvPr/>
        </p:nvSpPr>
        <p:spPr>
          <a:xfrm>
            <a:off x="8202067" y="2185640"/>
            <a:ext cx="3056611"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384-px crops, batch 2, Adam, lr 10⁻³ with cosine decay, fp16; 1,000–2,000 steps; best step on the 30 tuning photos.</a:t>
            </a:r>
            <a:endParaRPr lang="en-US" sz="1400" dirty="0"/>
          </a:p>
        </p:txBody>
      </p:sp>
      <p:sp>
        <p:nvSpPr>
          <p:cNvPr id="15" name="Text 13"/>
          <p:cNvSpPr/>
          <p:nvPr/>
        </p:nvSpPr>
        <p:spPr>
          <a:xfrm>
            <a:off x="8202067" y="3308201"/>
            <a:ext cx="305661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28 runs on free Kaggle T4 GPUs, about 29 GPU-hours.</a:t>
            </a:r>
            <a:endParaRPr lang="en-US" sz="1400" dirty="0"/>
          </a:p>
        </p:txBody>
      </p:sp>
      <p:sp>
        <p:nvSpPr>
          <p:cNvPr id="16" name="Text 14"/>
          <p:cNvSpPr/>
          <p:nvPr/>
        </p:nvSpPr>
        <p:spPr>
          <a:xfrm>
            <a:off x="812800" y="527308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A3A"/>
                </a:solidFill>
                <a:latin typeface="IBM Plex Sans" pitchFamily="34" charset="0"/>
                <a:ea typeface="IBM Plex Sans" pitchFamily="34" charset="-122"/>
                <a:cs typeface="IBM Plex Sans" pitchFamily="34" charset="-120"/>
              </a:rPr>
              <a:t>The notebook reruns everything on a fresh T4 in about 28 minutes; its live 50-shot predictions match the stored ones </a:t>
            </a:r>
            <a:r>
              <a:rPr lang="en-US" sz="1600" b="1" dirty="0">
                <a:solidFill>
                  <a:srgbClr val="1F2A3A"/>
                </a:solidFill>
                <a:latin typeface="IBM Plex Sans" pitchFamily="34" charset="0"/>
                <a:ea typeface="IBM Plex Sans" pitchFamily="34" charset="-122"/>
                <a:cs typeface="IBM Plex Sans" pitchFamily="34" charset="-120"/>
              </a:rPr>
              <a:t>exactly on Kaggle</a:t>
            </a:r>
            <a:r>
              <a:rPr lang="en-US" sz="1600" dirty="0">
                <a:solidFill>
                  <a:srgbClr val="1F2A3A"/>
                </a:solidFill>
                <a:latin typeface="IBM Plex Sans" pitchFamily="34" charset="0"/>
                <a:ea typeface="IBM Plex Sans" pitchFamily="34" charset="-122"/>
                <a:cs typeface="IBM Plex Sans" pitchFamily="34" charset="-120"/>
              </a:rPr>
              <a:t> and on 99.99 % of pixels on Colab.</a:t>
            </a:r>
            <a:endParaRPr lang="en-US" sz="1600" dirty="0"/>
          </a:p>
        </p:txBody>
      </p:sp>
      <p:sp>
        <p:nvSpPr>
          <p:cNvPr id="17" name="Text 15"/>
          <p:cNvSpPr/>
          <p:nvPr/>
        </p:nvSpPr>
        <p:spPr>
          <a:xfrm>
            <a:off x="812800" y="6238280"/>
            <a:ext cx="3408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Rescue Router · Marlen Melis · 20260876</a:t>
            </a:r>
            <a:endParaRPr lang="en-US" sz="1200" dirty="0"/>
          </a:p>
        </p:txBody>
      </p:sp>
      <p:sp>
        <p:nvSpPr>
          <p:cNvPr id="18" name="Text 16"/>
          <p:cNvSpPr/>
          <p:nvPr/>
        </p:nvSpPr>
        <p:spPr>
          <a:xfrm>
            <a:off x="11003379" y="6238280"/>
            <a:ext cx="37582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3 / 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F2A3A"/>
                </a:solidFill>
                <a:latin typeface="Rubik" pitchFamily="34" charset="0"/>
                <a:ea typeface="Rubik" pitchFamily="34" charset="-122"/>
                <a:cs typeface="Rubik" pitchFamily="34" charset="-120"/>
              </a:rPr>
              <a:t>Track A: 50 labels get about halfway</a:t>
            </a:r>
            <a:endParaRPr lang="en-US" sz="3200" dirty="0"/>
          </a:p>
        </p:txBody>
      </p:sp>
      <p:pic>
        <p:nvPicPr>
          <p:cNvPr id="3" name="Image 0" descr="Learning curve: mIoU on 100 test photos rises from 0.26 with 1 labelled photo to 0.52 with 50 (final model, tuned decode), with 95 percent intervals; full test 0.507 (first model 0.472); PSPNet with 1,445 labels at 0.848">    </p:cNvPr>
          <p:cNvPicPr>
            <a:picLocks noChangeAspect="1"/>
          </p:cNvPicPr>
          <p:nvPr/>
        </p:nvPicPr>
        <p:blipFill>
          <a:blip r:embed="rId1"/>
          <a:srcRect l="0" r="0" t="-32" b="-32"/>
          <a:stretch/>
        </p:blipFill>
        <p:spPr>
          <a:xfrm>
            <a:off x="812800" y="1513830"/>
            <a:ext cx="6096000" cy="4025900"/>
          </a:xfrm>
          <a:prstGeom prst="rect">
            <a:avLst/>
          </a:prstGeom>
        </p:spPr>
      </p:pic>
      <p:sp>
        <p:nvSpPr>
          <p:cNvPr id="4" name="Text 1"/>
          <p:cNvSpPr/>
          <p:nvPr/>
        </p:nvSpPr>
        <p:spPr>
          <a:xfrm>
            <a:off x="7264400" y="1513830"/>
            <a:ext cx="4238244"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F2A3A"/>
                </a:solidFill>
                <a:latin typeface="IBM Plex Sans" pitchFamily="34" charset="0"/>
                <a:ea typeface="IBM Plex Sans" pitchFamily="34" charset="-122"/>
                <a:cs typeface="IBM Plex Sans" pitchFamily="34" charset="-120"/>
              </a:rPr>
              <a:t>1 → 5 photos: +.14</a:t>
            </a:r>
            <a:r>
              <a:rPr lang="en-US" sz="1500" dirty="0">
                <a:solidFill>
                  <a:srgbClr val="4A5568"/>
                </a:solidFill>
                <a:latin typeface="IBM Plex Sans" pitchFamily="34" charset="0"/>
                <a:ea typeface="IBM Plex Sans" pitchFamily="34" charset="-122"/>
                <a:cs typeface="IBM Plex Sans" pitchFamily="34" charset="-120"/>
              </a:rPr>
              <a:t>, a real gain (95 % interval above 0).</a:t>
            </a:r>
            <a:endParaRPr lang="en-US" sz="1500" dirty="0"/>
          </a:p>
        </p:txBody>
      </p:sp>
      <p:sp>
        <p:nvSpPr>
          <p:cNvPr id="5" name="Text 2"/>
          <p:cNvSpPr/>
          <p:nvPr/>
        </p:nvSpPr>
        <p:spPr>
          <a:xfrm>
            <a:off x="7264400" y="2205980"/>
            <a:ext cx="4238244"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F2A3A"/>
                </a:solidFill>
                <a:latin typeface="IBM Plex Sans" pitchFamily="34" charset="0"/>
                <a:ea typeface="IBM Plex Sans" pitchFamily="34" charset="-122"/>
                <a:cs typeface="IBM Plex Sans" pitchFamily="34" charset="-120"/>
              </a:rPr>
              <a:t>5 → 10: no measurable gain;</a:t>
            </a:r>
            <a:r>
              <a:rPr lang="en-US" sz="1500" dirty="0">
                <a:solidFill>
                  <a:srgbClr val="4A5568"/>
                </a:solidFill>
                <a:latin typeface="IBM Plex Sans" pitchFamily="34" charset="0"/>
                <a:ea typeface="IBM Plex Sans" pitchFamily="34" charset="-122"/>
                <a:cs typeface="IBM Plex Sans" pitchFamily="34" charset="-120"/>
              </a:rPr>
              <a:t> 20 → 50: +.10 again.</a:t>
            </a:r>
            <a:endParaRPr lang="en-US" sz="1500" dirty="0"/>
          </a:p>
        </p:txBody>
      </p:sp>
      <p:sp>
        <p:nvSpPr>
          <p:cNvPr id="6" name="Text 3"/>
          <p:cNvSpPr/>
          <p:nvPr/>
        </p:nvSpPr>
        <p:spPr>
          <a:xfrm>
            <a:off x="7264400" y="2898130"/>
            <a:ext cx="4238244" cy="79692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B85A12"/>
                </a:solidFill>
                <a:latin typeface="IBM Plex Sans" pitchFamily="34" charset="0"/>
                <a:ea typeface="IBM Plex Sans" pitchFamily="34" charset="-122"/>
                <a:cs typeface="IBM Plex Sans" pitchFamily="34" charset="-120"/>
              </a:rPr>
              <a:t>Flooded roads are the gap: IoU .31 vs .82 for PSPNet. Water and dry roads look alike from above.</a:t>
            </a:r>
            <a:r>
              <a:rPr lang="en-US" sz="1500" dirty="0">
                <a:solidFill>
                  <a:srgbClr val="4A5568"/>
                </a:solidFill>
                <a:latin typeface="IBM Plex Sans" pitchFamily="34" charset="0"/>
                <a:ea typeface="IBM Plex Sans" pitchFamily="34" charset="-122"/>
                <a:cs typeface="IBM Plex Sans" pitchFamily="34" charset="-120"/>
              </a:rPr>
              <a:t/>
            </a:r>
            <a:endParaRPr lang="en-US" sz="1500" dirty="0"/>
          </a:p>
        </p:txBody>
      </p:sp>
      <p:sp>
        <p:nvSpPr>
          <p:cNvPr id="7" name="Text 4"/>
          <p:cNvSpPr/>
          <p:nvPr/>
        </p:nvSpPr>
        <p:spPr>
          <a:xfrm>
            <a:off x="7264400" y="3847455"/>
            <a:ext cx="4238244" cy="79692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F2A3A"/>
                </a:solidFill>
                <a:latin typeface="IBM Plex Sans" pitchFamily="34" charset="0"/>
                <a:ea typeface="IBM Plex Sans" pitchFamily="34" charset="-122"/>
                <a:cs typeface="IBM Plex Sans" pitchFamily="34" charset="-120"/>
              </a:rPr>
              <a:t>A new hurricane needs its own labels:</a:t>
            </a:r>
            <a:r>
              <a:rPr lang="en-US" sz="1500" dirty="0">
                <a:solidFill>
                  <a:srgbClr val="4A5568"/>
                </a:solidFill>
                <a:latin typeface="IBM Plex Sans" pitchFamily="34" charset="0"/>
                <a:ea typeface="IBM Plex Sans" pitchFamily="34" charset="-122"/>
                <a:cs typeface="IBM Plex Sans" pitchFamily="34" charset="-120"/>
              </a:rPr>
              <a:t> the FloodNet model on RescueNet with 0 labels reaches .32; with 20 RescueNet labels, .63.</a:t>
            </a:r>
            <a:endParaRPr lang="en-US" sz="1500" dirty="0"/>
          </a:p>
        </p:txBody>
      </p:sp>
      <p:sp>
        <p:nvSpPr>
          <p:cNvPr id="8" name="Text 5"/>
          <p:cNvSpPr/>
          <p:nvPr/>
        </p:nvSpPr>
        <p:spPr>
          <a:xfrm>
            <a:off x="812800" y="6238280"/>
            <a:ext cx="3408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Rescue Router · Marlen Melis · 20260876</a:t>
            </a:r>
            <a:endParaRPr lang="en-US" sz="1200" dirty="0"/>
          </a:p>
        </p:txBody>
      </p:sp>
      <p:sp>
        <p:nvSpPr>
          <p:cNvPr id="9" name="Text 6"/>
          <p:cNvSpPr/>
          <p:nvPr/>
        </p:nvSpPr>
        <p:spPr>
          <a:xfrm>
            <a:off x="11003379" y="6238280"/>
            <a:ext cx="37582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4 / 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F2A3A"/>
                </a:solidFill>
                <a:latin typeface="Rubik" pitchFamily="34" charset="0"/>
                <a:ea typeface="Rubik" pitchFamily="34" charset="-122"/>
                <a:cs typeface="Rubik" pitchFamily="34" charset="-120"/>
              </a:rPr>
              <a:t>Track B: rescue routes on the predicted map</a:t>
            </a:r>
            <a:endParaRPr lang="en-US" sz="3200" dirty="0"/>
          </a:p>
        </p:txBody>
      </p:sp>
      <p:pic>
        <p:nvPicPr>
          <p:cNvPr id="3" name="Image 0" descr="Predicted map of FloodNet 7301 with house badges and a boat route along a flooded street">    </p:cNvPr>
          <p:cNvPicPr>
            <a:picLocks noChangeAspect="1"/>
          </p:cNvPicPr>
          <p:nvPr/>
        </p:nvPicPr>
        <p:blipFill>
          <a:blip r:embed="rId1"/>
          <a:srcRect l="0" r="0" t="0" b="0"/>
          <a:stretch/>
        </p:blipFill>
        <p:spPr>
          <a:xfrm>
            <a:off x="812800" y="1488430"/>
            <a:ext cx="3403600" cy="2552700"/>
          </a:xfrm>
          <a:prstGeom prst="roundRect">
            <a:avLst>
              <a:gd name="adj" fmla="val 2985"/>
            </a:avLst>
          </a:prstGeom>
        </p:spPr>
      </p:pic>
      <p:sp>
        <p:nvSpPr>
          <p:cNvPr id="4" name="Text 1"/>
          <p:cNvSpPr/>
          <p:nvPr/>
        </p:nvSpPr>
        <p:spPr>
          <a:xfrm>
            <a:off x="812800" y="4104630"/>
            <a:ext cx="35057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prediction (50 labels): truck, then boat</a:t>
            </a:r>
            <a:endParaRPr lang="en-US" sz="1200" dirty="0"/>
          </a:p>
        </p:txBody>
      </p:sp>
      <p:pic>
        <p:nvPicPr>
          <p:cNvPr id="5" name="Image 1" descr="The same street routed on the human labels: the same house also needs a boat">    </p:cNvPr>
          <p:cNvPicPr>
            <a:picLocks noChangeAspect="1"/>
          </p:cNvPicPr>
          <p:nvPr/>
        </p:nvPicPr>
        <p:blipFill>
          <a:blip r:embed="rId2"/>
          <a:srcRect l="0" r="0" t="0" b="0"/>
          <a:stretch/>
        </p:blipFill>
        <p:spPr>
          <a:xfrm>
            <a:off x="4394200" y="1488430"/>
            <a:ext cx="3403600" cy="2552700"/>
          </a:xfrm>
          <a:prstGeom prst="roundRect">
            <a:avLst>
              <a:gd name="adj" fmla="val 2985"/>
            </a:avLst>
          </a:prstGeom>
        </p:spPr>
      </p:pic>
      <p:sp>
        <p:nvSpPr>
          <p:cNvPr id="6" name="Text 2"/>
          <p:cNvSpPr/>
          <p:nvPr/>
        </p:nvSpPr>
        <p:spPr>
          <a:xfrm>
            <a:off x="4394200" y="4104630"/>
            <a:ext cx="35057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labelled map: the same house needs a boat</a:t>
            </a:r>
            <a:endParaRPr lang="en-US" sz="1200" dirty="0"/>
          </a:p>
        </p:txBody>
      </p:sp>
      <p:pic>
        <p:nvPicPr>
          <p:cNvPr id="7" name="Image 2" descr="RescueNet 12195: a truck drives to the canal, a boat crosses it, and the team walks to the house">    </p:cNvPr>
          <p:cNvPicPr>
            <a:picLocks noChangeAspect="1"/>
          </p:cNvPicPr>
          <p:nvPr/>
        </p:nvPicPr>
        <p:blipFill>
          <a:blip r:embed="rId3"/>
          <a:srcRect l="0" r="0" t="0" b="0"/>
          <a:stretch/>
        </p:blipFill>
        <p:spPr>
          <a:xfrm>
            <a:off x="7975600" y="1488430"/>
            <a:ext cx="3403600" cy="2552700"/>
          </a:xfrm>
          <a:prstGeom prst="roundRect">
            <a:avLst>
              <a:gd name="adj" fmla="val 2985"/>
            </a:avLst>
          </a:prstGeom>
        </p:spPr>
      </p:pic>
      <p:sp>
        <p:nvSpPr>
          <p:cNvPr id="8" name="Text 3"/>
          <p:cNvSpPr/>
          <p:nvPr/>
        </p:nvSpPr>
        <p:spPr>
          <a:xfrm>
            <a:off x="7975600" y="4104630"/>
            <a:ext cx="35057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RescueNet canal: truck → boat → on foot</a:t>
            </a:r>
            <a:endParaRPr lang="en-US" sz="1200" dirty="0"/>
          </a:p>
        </p:txBody>
      </p:sp>
      <p:sp>
        <p:nvSpPr>
          <p:cNvPr id="9" name="Shape 4"/>
          <p:cNvSpPr/>
          <p:nvPr/>
        </p:nvSpPr>
        <p:spPr>
          <a:xfrm>
            <a:off x="812800" y="4559250"/>
            <a:ext cx="3403600" cy="0"/>
          </a:xfrm>
          <a:prstGeom prst="line">
            <a:avLst/>
          </a:prstGeom>
          <a:noFill/>
          <a:ln w="25400">
            <a:solidFill>
              <a:srgbClr val="1F6FB2"/>
            </a:solidFill>
            <a:prstDash val="solid"/>
          </a:ln>
        </p:spPr>
        <p:txBody>
          <a:bodyPr/>
          <a:p/>
        </p:txBody>
      </p:sp>
      <p:sp>
        <p:nvSpPr>
          <p:cNvPr id="10" name="Text 5"/>
          <p:cNvSpPr/>
          <p:nvPr/>
        </p:nvSpPr>
        <p:spPr>
          <a:xfrm>
            <a:off x="812800" y="4673550"/>
            <a:ext cx="3505708" cy="74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2A3A"/>
                </a:solidFill>
                <a:latin typeface="IBM Plex Sans" pitchFamily="34" charset="0"/>
                <a:ea typeface="IBM Plex Sans" pitchFamily="34" charset="-122"/>
                <a:cs typeface="IBM Plex Sans" pitchFamily="34" charset="-120"/>
              </a:rPr>
              <a:t>Cut-off houses found:</a:t>
            </a:r>
            <a:r>
              <a:rPr lang="en-US" sz="1400" dirty="0">
                <a:solidFill>
                  <a:srgbClr val="4A5568"/>
                </a:solidFill>
                <a:latin typeface="IBM Plex Sans" pitchFamily="34" charset="0"/>
                <a:ea typeface="IBM Plex Sans" pitchFamily="34" charset="-122"/>
                <a:cs typeface="IBM Plex Sans" pitchFamily="34" charset="-120"/>
              </a:rPr>
              <a:t> F1 .752 on 1,232 test houses (.819 on the 100-photo set, .818 RescueNet)</a:t>
            </a:r>
            <a:endParaRPr lang="en-US" sz="1400" dirty="0"/>
          </a:p>
        </p:txBody>
      </p:sp>
      <p:sp>
        <p:nvSpPr>
          <p:cNvPr id="11" name="Shape 6"/>
          <p:cNvSpPr/>
          <p:nvPr/>
        </p:nvSpPr>
        <p:spPr>
          <a:xfrm>
            <a:off x="4394200" y="4559250"/>
            <a:ext cx="3403600" cy="0"/>
          </a:xfrm>
          <a:prstGeom prst="line">
            <a:avLst/>
          </a:prstGeom>
          <a:noFill/>
          <a:ln w="25400">
            <a:solidFill>
              <a:srgbClr val="B85A12"/>
            </a:solidFill>
            <a:prstDash val="solid"/>
          </a:ln>
        </p:spPr>
        <p:txBody>
          <a:bodyPr/>
          <a:p/>
        </p:txBody>
      </p:sp>
      <p:sp>
        <p:nvSpPr>
          <p:cNvPr id="12" name="Text 7"/>
          <p:cNvSpPr/>
          <p:nvPr/>
        </p:nvSpPr>
        <p:spPr>
          <a:xfrm>
            <a:off x="4394200" y="4673550"/>
            <a:ext cx="3505708"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2A3A"/>
                </a:solidFill>
                <a:latin typeface="IBM Plex Sans" pitchFamily="34" charset="0"/>
                <a:ea typeface="IBM Plex Sans" pitchFamily="34" charset="-122"/>
                <a:cs typeface="IBM Plex Sans" pitchFamily="34" charset="-120"/>
              </a:rPr>
              <a:t>It says how sure it is:</a:t>
            </a:r>
            <a:r>
              <a:rPr lang="en-US" sz="1400" dirty="0">
                <a:solidFill>
                  <a:srgbClr val="4A5568"/>
                </a:solidFill>
                <a:latin typeface="IBM Plex Sans" pitchFamily="34" charset="0"/>
                <a:ea typeface="IBM Plex Sans" pitchFamily="34" charset="-122"/>
                <a:cs typeface="IBM Plex Sans" pitchFamily="34" charset="-120"/>
              </a:rPr>
              <a:t> “confident: truck” is right 100 %, “check first” 79 %</a:t>
            </a:r>
            <a:endParaRPr lang="en-US" sz="1400" dirty="0"/>
          </a:p>
        </p:txBody>
      </p:sp>
      <p:sp>
        <p:nvSpPr>
          <p:cNvPr id="13" name="Shape 8"/>
          <p:cNvSpPr/>
          <p:nvPr/>
        </p:nvSpPr>
        <p:spPr>
          <a:xfrm>
            <a:off x="7975600" y="4559250"/>
            <a:ext cx="3403600" cy="0"/>
          </a:xfrm>
          <a:prstGeom prst="line">
            <a:avLst/>
          </a:prstGeom>
          <a:noFill/>
          <a:ln w="25400">
            <a:solidFill>
              <a:srgbClr val="1F2A3A"/>
            </a:solidFill>
            <a:prstDash val="solid"/>
          </a:ln>
        </p:spPr>
        <p:txBody>
          <a:bodyPr/>
          <a:p/>
        </p:txBody>
      </p:sp>
      <p:sp>
        <p:nvSpPr>
          <p:cNvPr id="14" name="Text 9"/>
          <p:cNvSpPr/>
          <p:nvPr/>
        </p:nvSpPr>
        <p:spPr>
          <a:xfrm>
            <a:off x="7975600" y="4673550"/>
            <a:ext cx="3505708" cy="74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2A3A"/>
                </a:solidFill>
                <a:latin typeface="IBM Plex Sans" pitchFamily="34" charset="0"/>
                <a:ea typeface="IBM Plex Sans" pitchFamily="34" charset="-122"/>
                <a:cs typeface="IBM Plex Sans" pitchFamily="34" charset="-120"/>
              </a:rPr>
              <a:t>The system:</a:t>
            </a:r>
            <a:r>
              <a:rPr lang="en-US" sz="1400" dirty="0">
                <a:solidFill>
                  <a:srgbClr val="4A5568"/>
                </a:solidFill>
                <a:latin typeface="IBM Plex Sans" pitchFamily="34" charset="0"/>
                <a:ea typeface="IBM Plex Sans" pitchFamily="34" charset="-122"/>
                <a:cs typeface="IBM Plex Sans" pitchFamily="34" charset="-120"/>
              </a:rPr>
              <a:t> web map of 200 test photos with live routes; Gradio app runs the model on an upload in 17 s</a:t>
            </a:r>
            <a:endParaRPr lang="en-US" sz="1400" dirty="0"/>
          </a:p>
        </p:txBody>
      </p:sp>
      <p:sp>
        <p:nvSpPr>
          <p:cNvPr id="15" name="Text 10"/>
          <p:cNvSpPr/>
          <p:nvPr/>
        </p:nvSpPr>
        <p:spPr>
          <a:xfrm>
            <a:off x="812800" y="6238280"/>
            <a:ext cx="3408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Rescue Router · Marlen Melis · 20260876</a:t>
            </a:r>
            <a:endParaRPr lang="en-US" sz="1200" dirty="0"/>
          </a:p>
        </p:txBody>
      </p:sp>
      <p:sp>
        <p:nvSpPr>
          <p:cNvPr id="16" name="Text 11"/>
          <p:cNvSpPr/>
          <p:nvPr/>
        </p:nvSpPr>
        <p:spPr>
          <a:xfrm>
            <a:off x="11003379" y="6238280"/>
            <a:ext cx="37582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5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F"/>
                </a:solidFill>
                <a:latin typeface="Rubik" pitchFamily="34" charset="0"/>
                <a:ea typeface="Rubik" pitchFamily="34" charset="-122"/>
                <a:cs typeface="Rubik" pitchFamily="34" charset="-120"/>
              </a:rPr>
              <a:t>What I tried and what I learned</a:t>
            </a:r>
            <a:endParaRPr lang="en-US" sz="3200" dirty="0"/>
          </a:p>
        </p:txBody>
      </p:sp>
      <p:pic>
        <p:nvPicPr>
          <p:cNvPr id="3" name="Image 0" descr="Honest failure, FloodNet 7241: shallow water predicted as land; the six houses wrongly shown as truck-reachable carry yellow check-first badges">    </p:cNvPr>
          <p:cNvPicPr>
            <a:picLocks noChangeAspect="1"/>
          </p:cNvPicPr>
          <p:nvPr/>
        </p:nvPicPr>
        <p:blipFill>
          <a:blip r:embed="rId1"/>
          <a:srcRect l="0" r="0" t="0" b="0"/>
          <a:stretch/>
        </p:blipFill>
        <p:spPr>
          <a:xfrm>
            <a:off x="812800" y="1539230"/>
            <a:ext cx="4064000" cy="3048000"/>
          </a:xfrm>
          <a:prstGeom prst="roundRect">
            <a:avLst>
              <a:gd name="adj" fmla="val 2500"/>
            </a:avLst>
          </a:prstGeom>
        </p:spPr>
      </p:pic>
      <p:sp>
        <p:nvSpPr>
          <p:cNvPr id="4" name="Text 1"/>
          <p:cNvSpPr/>
          <p:nvPr/>
        </p:nvSpPr>
        <p:spPr>
          <a:xfrm>
            <a:off x="812800" y="4663430"/>
            <a:ext cx="41859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7D6"/>
                </a:solidFill>
                <a:latin typeface="IBM Plex Sans" pitchFamily="34" charset="0"/>
                <a:ea typeface="IBM Plex Sans" pitchFamily="34" charset="-122"/>
                <a:cs typeface="IBM Plex Sans" pitchFamily="34" charset="-120"/>
              </a:rPr>
              <a:t>Honest failure: shallow water read as land. All 6 wrongly “truck” houses are flagged “check first”.</a:t>
            </a:r>
            <a:endParaRPr lang="en-US" sz="1200" dirty="0"/>
          </a:p>
        </p:txBody>
      </p:sp>
      <p:sp>
        <p:nvSpPr>
          <p:cNvPr id="5" name="Text 2"/>
          <p:cNvSpPr/>
          <p:nvPr/>
        </p:nvSpPr>
        <p:spPr>
          <a:xfrm>
            <a:off x="5283200" y="1539230"/>
            <a:ext cx="6278880" cy="79692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5CC8E8"/>
                </a:solidFill>
                <a:latin typeface="IBM Plex Sans" pitchFamily="34" charset="0"/>
                <a:ea typeface="IBM Plex Sans" pitchFamily="34" charset="-122"/>
                <a:cs typeface="IBM Plex Sans" pitchFamily="34" charset="-120"/>
              </a:rPr>
              <a:t>The dangerous error</a:t>
            </a:r>
            <a:r>
              <a:rPr lang="en-US" sz="1500" dirty="0">
                <a:solidFill>
                  <a:srgbClr val="DCE4EC"/>
                </a:solidFill>
                <a:latin typeface="IBM Plex Sans" pitchFamily="34" charset="0"/>
                <a:ea typeface="IBM Plex Sans" pitchFamily="34" charset="-122"/>
                <a:cs typeface="IBM Plex Sans" pitchFamily="34" charset="-120"/>
              </a:rPr>
              <a:t> is shallow water read as dry land. A rule from that analysis (no off-road driving where water is likely) raised cut-off F1 from .74 to .84.</a:t>
            </a:r>
            <a:endParaRPr lang="en-US" sz="1500" dirty="0"/>
          </a:p>
        </p:txBody>
      </p:sp>
      <p:sp>
        <p:nvSpPr>
          <p:cNvPr id="6" name="Text 3"/>
          <p:cNvSpPr/>
          <p:nvPr/>
        </p:nvSpPr>
        <p:spPr>
          <a:xfrm>
            <a:off x="5283200" y="2501255"/>
            <a:ext cx="627888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5CC8E8"/>
                </a:solidFill>
                <a:latin typeface="IBM Plex Sans" pitchFamily="34" charset="0"/>
                <a:ea typeface="IBM Plex Sans" pitchFamily="34" charset="-122"/>
                <a:cs typeface="IBM Plex Sans" pitchFamily="34" charset="-120"/>
              </a:rPr>
              <a:t>Saying how sure we are</a:t>
            </a:r>
            <a:r>
              <a:rPr lang="en-US" sz="1500" dirty="0">
                <a:solidFill>
                  <a:srgbClr val="DCE4EC"/>
                </a:solidFill>
                <a:latin typeface="IBM Plex Sans" pitchFamily="34" charset="0"/>
                <a:ea typeface="IBM Plex Sans" pitchFamily="34" charset="-122"/>
                <a:cs typeface="IBM Plex Sans" pitchFamily="34" charset="-120"/>
              </a:rPr>
              <a:t> helps rescuers more than a few IoU points.</a:t>
            </a:r>
            <a:endParaRPr lang="en-US" sz="1500" dirty="0"/>
          </a:p>
        </p:txBody>
      </p:sp>
      <p:sp>
        <p:nvSpPr>
          <p:cNvPr id="7" name="Text 4"/>
          <p:cNvSpPr/>
          <p:nvPr/>
        </p:nvSpPr>
        <p:spPr>
          <a:xfrm>
            <a:off x="5283200" y="2948930"/>
            <a:ext cx="6278880"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5CC8E8"/>
                </a:solidFill>
                <a:latin typeface="IBM Plex Sans" pitchFamily="34" charset="0"/>
                <a:ea typeface="IBM Plex Sans" pitchFamily="34" charset="-122"/>
                <a:cs typeface="IBM Plex Sans" pitchFamily="34" charset="-120"/>
              </a:rPr>
              <a:t>Tried 36 ideas:</a:t>
            </a:r>
            <a:r>
              <a:rPr lang="en-US" sz="1500" dirty="0">
                <a:solidFill>
                  <a:srgbClr val="DCE4EC"/>
                </a:solidFill>
                <a:latin typeface="IBM Plex Sans" pitchFamily="34" charset="0"/>
                <a:ea typeface="IBM Plex Sans" pitchFamily="34" charset="-122"/>
                <a:cs typeface="IBM Plex Sans" pitchFamily="34" charset="-120"/>
              </a:rPr>
              <a:t> kept a shorter schedule, weight averaging, an edge-aware decode and SAM (.472 → .507); the rest lost.</a:t>
            </a:r>
            <a:endParaRPr lang="en-US" sz="1500" dirty="0"/>
          </a:p>
        </p:txBody>
      </p:sp>
      <p:sp>
        <p:nvSpPr>
          <p:cNvPr id="8" name="Text 5"/>
          <p:cNvSpPr/>
          <p:nvPr/>
        </p:nvSpPr>
        <p:spPr>
          <a:xfrm>
            <a:off x="5283200" y="3653780"/>
            <a:ext cx="6278880"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5CC8E8"/>
                </a:solidFill>
                <a:latin typeface="IBM Plex Sans" pitchFamily="34" charset="0"/>
                <a:ea typeface="IBM Plex Sans" pitchFamily="34" charset="-122"/>
                <a:cs typeface="IBM Plex Sans" pitchFamily="34" charset="-120"/>
              </a:rPr>
              <a:t>Limits:</a:t>
            </a:r>
            <a:r>
              <a:rPr lang="en-US" sz="1500" dirty="0">
                <a:solidFill>
                  <a:srgbClr val="DCE4EC"/>
                </a:solidFill>
                <a:latin typeface="IBM Plex Sans" pitchFamily="34" charset="0"/>
                <a:ea typeface="IBM Plex Sans" pitchFamily="34" charset="-122"/>
                <a:cs typeface="IBM Plex Sans" pitchFamily="34" charset="-120"/>
              </a:rPr>
              <a:t> US hurricanes, not Korean city floods; single photos without GPS; the “labelled map” is my router on human labels, not field truth.</a:t>
            </a:r>
            <a:endParaRPr lang="en-US" sz="1500" dirty="0"/>
          </a:p>
        </p:txBody>
      </p:sp>
      <p:sp>
        <p:nvSpPr>
          <p:cNvPr id="9" name="Text 6"/>
          <p:cNvSpPr/>
          <p:nvPr/>
        </p:nvSpPr>
        <p:spPr>
          <a:xfrm>
            <a:off x="812800" y="6238280"/>
            <a:ext cx="3408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IBM Plex Sans" pitchFamily="34" charset="0"/>
                <a:ea typeface="IBM Plex Sans" pitchFamily="34" charset="-122"/>
                <a:cs typeface="IBM Plex Sans" pitchFamily="34" charset="-120"/>
              </a:rPr>
              <a:t>Rescue Router · Marlen Melis · 20260876</a:t>
            </a:r>
            <a:endParaRPr lang="en-US" sz="1200" dirty="0"/>
          </a:p>
        </p:txBody>
      </p:sp>
      <p:sp>
        <p:nvSpPr>
          <p:cNvPr id="10" name="Text 7"/>
          <p:cNvSpPr/>
          <p:nvPr/>
        </p:nvSpPr>
        <p:spPr>
          <a:xfrm>
            <a:off x="11003379" y="6238280"/>
            <a:ext cx="37582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3B8"/>
                </a:solidFill>
                <a:latin typeface="IBM Plex Sans" pitchFamily="34" charset="0"/>
                <a:ea typeface="IBM Plex Sans" pitchFamily="34" charset="-122"/>
                <a:cs typeface="IBM Plex Sans" pitchFamily="34" charset="-120"/>
              </a:rPr>
              <a:t>6 / 6</a:t>
            </a:r>
            <a:endParaRPr lang="en-US" sz="1200" dirty="0"/>
          </a:p>
        </p:txBody>
      </p:sp>
    </p:spTree>
  </p:cSld>
  <p:clrMapOvr>
    <a:masterClrMapping/>
  </p:clrMapOvr>
</p:sld>
</file>

<file path=ppt/theme/theme1.xml><?xml version="1.0" encoding="utf-8"?>
<a:theme xmlns:a="http://schemas.openxmlformats.org/drawingml/2006/main" name="Rescue Router">
  <a:themeElements>
    <a:clrScheme name="Rescue Router">
      <a:dk1>
        <a:srgbClr val="4A5568"/>
      </a:dk1>
      <a:lt1>
        <a:srgbClr val="F6F4EF"/>
      </a:lt1>
      <a:dk2>
        <a:srgbClr val="757D8A"/>
      </a:dk2>
      <a:lt2>
        <a:srgbClr val="E5E4E2"/>
      </a:lt2>
      <a:accent1>
        <a:srgbClr val="1F6FB2"/>
      </a:accent1>
      <a:accent2>
        <a:srgbClr val="5CC8E8"/>
      </a:accent2>
      <a:accent3>
        <a:srgbClr val="8FA3B8"/>
      </a:accent3>
      <a:accent4>
        <a:srgbClr val="B85A12"/>
      </a:accent4>
      <a:accent5>
        <a:srgbClr val="6A7179"/>
      </a:accent5>
      <a:accent6>
        <a:srgbClr val="1F2A3A"/>
      </a:accent6>
      <a:hlink>
        <a:srgbClr val="0563C1"/>
      </a:hlink>
      <a:folHlink>
        <a:srgbClr val="954F72"/>
      </a:folHlink>
    </a:clrScheme>
    <a:fontScheme name="Rescue Router">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Rescue Router</dc:title>
  <dc:subject/>
  <dc:creator/>
  <cp:lastModifiedBy/>
  <cp:revision>1</cp:revision>
  <dcterms:created xsi:type="dcterms:W3CDTF">2026-10-07T07:06:02Z</dcterms:created>
  <dcterms:modified xsi:type="dcterms:W3CDTF">2026-10-07T07:06:02Z</dcterms:modified>
</cp:coreProperties>
</file>